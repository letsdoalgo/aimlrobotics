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3"/>
  </p:notesMasterIdLst>
  <p:sldIdLst>
    <p:sldId id="256" r:id="rId2"/>
    <p:sldId id="257" r:id="rId3"/>
    <p:sldId id="259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7" r:id="rId29"/>
    <p:sldId id="328" r:id="rId30"/>
    <p:sldId id="329" r:id="rId31"/>
    <p:sldId id="343" r:id="rId32"/>
    <p:sldId id="342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8" r:id="rId41"/>
    <p:sldId id="341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719" autoAdjust="0"/>
  </p:normalViewPr>
  <p:slideViewPr>
    <p:cSldViewPr snapToGrid="0">
      <p:cViewPr varScale="1">
        <p:scale>
          <a:sx n="78" d="100"/>
          <a:sy n="78" d="100"/>
        </p:scale>
        <p:origin x="108" y="4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rom%20Jan%202025\WILP\Teaching\Book%20Reference%20-%20Nov%202024%20-%20June%202024\Robotics\CS%207\PPT%20porble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rom%20Jan%202025\WILP\Teaching\Book%20Reference%20-%20Nov%202024%20-%20June%202024\Robotics\CS%207\PPT%20porblem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Roulette wheel</a:t>
            </a:r>
          </a:p>
          <a:p>
            <a:pPr>
              <a:defRPr/>
            </a:pPr>
            <a:r>
              <a:rPr lang="en-IN"/>
              <a:t>(Similar to</a:t>
            </a:r>
            <a:r>
              <a:rPr lang="en-IN" baseline="0"/>
              <a:t> GA 's parent selection)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3D-4F74-AC03-9D5C41FDE6F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3D-4F74-AC03-9D5C41FDE6F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3D-4F74-AC03-9D5C41FDE6F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13D-4F74-AC03-9D5C41FDE6F4}"/>
              </c:ext>
            </c:extLst>
          </c:dPt>
          <c:cat>
            <c:strRef>
              <c:f>Sheet1!$A$2:$A$5</c:f>
              <c:strCache>
                <c:ptCount val="4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0.88049999999999995</c:v>
                </c:pt>
                <c:pt idx="1">
                  <c:v>3.0999999999999999E-3</c:v>
                </c:pt>
                <c:pt idx="2">
                  <c:v>0.1132</c:v>
                </c:pt>
                <c:pt idx="3">
                  <c:v>3.0999999999999999E-3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3D-4F74-AC03-9D5C41FDE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Roulette wheel</a:t>
            </a:r>
          </a:p>
          <a:p>
            <a:pPr>
              <a:defRPr/>
            </a:pPr>
            <a:r>
              <a:rPr lang="en-IN"/>
              <a:t>(Similar to</a:t>
            </a:r>
            <a:r>
              <a:rPr lang="en-IN" baseline="0"/>
              <a:t> GA 's parent selection)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3D-4F74-AC03-9D5C41FDE6F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3D-4F74-AC03-9D5C41FDE6F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3D-4F74-AC03-9D5C41FDE6F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13D-4F74-AC03-9D5C41FDE6F4}"/>
              </c:ext>
            </c:extLst>
          </c:dPt>
          <c:cat>
            <c:strRef>
              <c:f>Sheet1!$A$2:$A$5</c:f>
              <c:strCache>
                <c:ptCount val="4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0.88049999999999995</c:v>
                </c:pt>
                <c:pt idx="1">
                  <c:v>3.0999999999999999E-3</c:v>
                </c:pt>
                <c:pt idx="2">
                  <c:v>0.1132</c:v>
                </c:pt>
                <c:pt idx="3">
                  <c:v>3.0999999999999999E-3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3D-4F74-AC03-9D5C41FDE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44d658b016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44d658b016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4d658b016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4d658b016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768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4030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794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913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2399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7717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5022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7152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1359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6869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470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187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6638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3640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80454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0701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1129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57297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5112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3774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05195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36290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63666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20662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91279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9855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16763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41099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94862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8173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57068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6016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8121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369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71231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44d658b016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44d658b016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00169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44d658b016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44d658b016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3613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950800"/>
            <a:ext cx="8520600" cy="39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NUL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NULL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9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12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.xml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NULL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29.png"/><Relationship Id="rId10" Type="http://schemas.openxmlformats.org/officeDocument/2006/relationships/image" Target="../media/image37.png"/><Relationship Id="rId4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NULL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5" Type="http://schemas.openxmlformats.org/officeDocument/2006/relationships/image" Target="../media/image42.png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962087" y="2504025"/>
            <a:ext cx="6020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 smtClean="0">
                <a:solidFill>
                  <a:schemeClr val="lt1"/>
                </a:solidFill>
              </a:rPr>
              <a:t>AIML for Robotics</a:t>
            </a:r>
            <a:endParaRPr sz="3200" b="1" dirty="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962086" y="3104452"/>
            <a:ext cx="6355196" cy="703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chemeClr val="lt1"/>
                </a:solidFill>
              </a:rPr>
              <a:t>Module </a:t>
            </a:r>
            <a:r>
              <a:rPr lang="en" sz="1800" dirty="0">
                <a:solidFill>
                  <a:schemeClr val="lt1"/>
                </a:solidFill>
              </a:rPr>
              <a:t>3</a:t>
            </a:r>
            <a:endParaRPr lang="en" sz="1800" dirty="0" smtClean="0">
              <a:solidFill>
                <a:schemeClr val="lt1"/>
              </a:solidFill>
            </a:endParaRPr>
          </a:p>
          <a:p>
            <a:pPr marL="0" lvl="0" indent="0"/>
            <a:r>
              <a:rPr lang="en-IN" sz="1800" dirty="0" smtClean="0">
                <a:solidFill>
                  <a:srgbClr val="FFC000"/>
                </a:solidFill>
              </a:rPr>
              <a:t>Localization</a:t>
            </a:r>
            <a:endParaRPr sz="1800" dirty="0">
              <a:solidFill>
                <a:srgbClr val="FFC000"/>
              </a:solidFill>
            </a:endParaRPr>
          </a:p>
        </p:txBody>
      </p:sp>
      <p:sp>
        <p:nvSpPr>
          <p:cNvPr id="6" name="Google Shape;57;p13"/>
          <p:cNvSpPr txBox="1"/>
          <p:nvPr/>
        </p:nvSpPr>
        <p:spPr>
          <a:xfrm>
            <a:off x="5429065" y="3678738"/>
            <a:ext cx="3389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Section Faculty: </a:t>
            </a:r>
          </a:p>
          <a:p>
            <a:pPr lvl="0" algn="r">
              <a:lnSpc>
                <a:spcPct val="150000"/>
              </a:lnSpc>
            </a:pPr>
            <a:r>
              <a:rPr lang="en-IN" dirty="0" smtClean="0">
                <a:solidFill>
                  <a:schemeClr val="lt1"/>
                </a:solidFill>
              </a:rPr>
              <a:t>Raja </a:t>
            </a:r>
            <a:r>
              <a:rPr lang="en-IN" dirty="0" err="1" smtClean="0">
                <a:solidFill>
                  <a:schemeClr val="lt1"/>
                </a:solidFill>
              </a:rPr>
              <a:t>vadhana</a:t>
            </a:r>
            <a:r>
              <a:rPr lang="en-IN" dirty="0" smtClean="0">
                <a:solidFill>
                  <a:schemeClr val="lt1"/>
                </a:solidFill>
              </a:rPr>
              <a:t> </a:t>
            </a:r>
            <a:r>
              <a:rPr lang="en-IN" dirty="0" err="1" smtClean="0">
                <a:solidFill>
                  <a:schemeClr val="lt1"/>
                </a:solidFill>
              </a:rPr>
              <a:t>Prabhakar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1478844" y="1448675"/>
            <a:ext cx="5344866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>
              <a:lnSpc>
                <a:spcPct val="115000"/>
              </a:lnSpc>
              <a:spcAft>
                <a:spcPts val="1200"/>
              </a:spcAft>
            </a:pPr>
            <a:r>
              <a:rPr lang="en" sz="1800" dirty="0">
                <a:solidFill>
                  <a:schemeClr val="dk2"/>
                </a:solidFill>
              </a:rPr>
              <a:t>The course owner and the </a:t>
            </a:r>
            <a:r>
              <a:rPr lang="en" sz="1800" dirty="0" smtClean="0">
                <a:solidFill>
                  <a:schemeClr val="dk2"/>
                </a:solidFill>
              </a:rPr>
              <a:t>authors </a:t>
            </a:r>
            <a:r>
              <a:rPr lang="en" sz="1800" dirty="0">
                <a:solidFill>
                  <a:schemeClr val="dk2"/>
                </a:solidFill>
              </a:rPr>
              <a:t>of this course deck, Prof. </a:t>
            </a:r>
            <a:r>
              <a:rPr lang="en-IN" sz="1800" dirty="0">
                <a:solidFill>
                  <a:schemeClr val="dk2"/>
                </a:solidFill>
              </a:rPr>
              <a:t>Raja vadhana </a:t>
            </a:r>
            <a:r>
              <a:rPr lang="en-IN" sz="1800" dirty="0" smtClean="0">
                <a:solidFill>
                  <a:schemeClr val="dk2"/>
                </a:solidFill>
              </a:rPr>
              <a:t>and Dr.Sangeetha</a:t>
            </a:r>
            <a:r>
              <a:rPr lang="en" sz="1800" dirty="0" smtClean="0">
                <a:solidFill>
                  <a:schemeClr val="dk2"/>
                </a:solidFill>
              </a:rPr>
              <a:t>, are </a:t>
            </a:r>
            <a:r>
              <a:rPr lang="en" sz="1800" dirty="0">
                <a:solidFill>
                  <a:schemeClr val="dk2"/>
                </a:solidFill>
              </a:rPr>
              <a:t>gratefully acknowledging all </a:t>
            </a:r>
            <a:r>
              <a:rPr lang="en" sz="1800" dirty="0" smtClean="0">
                <a:solidFill>
                  <a:schemeClr val="dk2"/>
                </a:solidFill>
              </a:rPr>
              <a:t>authors </a:t>
            </a:r>
            <a:r>
              <a:rPr lang="en" sz="1800" dirty="0">
                <a:solidFill>
                  <a:schemeClr val="dk2"/>
                </a:solidFill>
              </a:rPr>
              <a:t>who made their course materials freely available online.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 smtClean="0">
                <a:solidFill>
                  <a:srgbClr val="C00000"/>
                </a:solidFill>
              </a:rPr>
              <a:t>Course Content</a:t>
            </a:r>
            <a:endParaRPr sz="2400" b="1" dirty="0">
              <a:solidFill>
                <a:srgbClr val="C00000"/>
              </a:solidFill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970107"/>
            <a:ext cx="4248108" cy="39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IN" sz="1800" dirty="0" smtClean="0"/>
              <a:t>Introduction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400" dirty="0" smtClean="0"/>
              <a:t>Types of Robots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Mobile Robots – Use case of Programmable solutions</a:t>
            </a:r>
            <a:endParaRPr sz="18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1800" dirty="0"/>
              <a:t>Components of Programmable Robotic </a:t>
            </a:r>
            <a:r>
              <a:rPr lang="en-US" sz="1800" dirty="0" smtClean="0"/>
              <a:t>System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Perception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Representation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Motion</a:t>
            </a:r>
            <a:endParaRPr sz="18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1800" dirty="0" smtClean="0"/>
              <a:t>Localization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Taxonomy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Types</a:t>
            </a:r>
            <a:endParaRPr sz="1800" dirty="0"/>
          </a:p>
          <a:p>
            <a:pPr lvl="0">
              <a:buFont typeface="Wingdings" panose="05000000000000000000" pitchFamily="2" charset="2"/>
              <a:buChar char="q"/>
            </a:pPr>
            <a:endParaRPr sz="1400"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Google Shape;75;p16"/>
          <p:cNvSpPr txBox="1">
            <a:spLocks/>
          </p:cNvSpPr>
          <p:nvPr/>
        </p:nvSpPr>
        <p:spPr>
          <a:xfrm>
            <a:off x="5308896" y="970107"/>
            <a:ext cx="3835104" cy="3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dirty="0" smtClean="0"/>
              <a:t>Mapping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Feature Based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Grid Based</a:t>
            </a:r>
            <a:endParaRPr lang="en-US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 smtClean="0"/>
              <a:t>Path Planning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Graph Based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Sample Based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Evolutional Techniques</a:t>
            </a:r>
            <a:endParaRPr lang="en-US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 smtClean="0"/>
              <a:t>Human – Robot Interaction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Ethics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Introduction to Visual Bot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smtClean="0"/>
              <a:t>Introduction to Chat Bot</a:t>
            </a:r>
            <a:endParaRPr lang="en-US" sz="1400" dirty="0"/>
          </a:p>
        </p:txBody>
      </p:sp>
      <p:sp>
        <p:nvSpPr>
          <p:cNvPr id="2" name="Rounded Rectangle 1"/>
          <p:cNvSpPr/>
          <p:nvPr/>
        </p:nvSpPr>
        <p:spPr>
          <a:xfrm>
            <a:off x="311700" y="3526972"/>
            <a:ext cx="3913632" cy="7924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3" y="1138237"/>
            <a:ext cx="5278438" cy="1775207"/>
          </a:xfrm>
          <a:prstGeom prst="rect">
            <a:avLst/>
          </a:prstGeom>
        </p:spPr>
      </p:pic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</a:t>
            </a:r>
            <a:r>
              <a:rPr lang="en" sz="2200" dirty="0" smtClean="0">
                <a:solidFill>
                  <a:srgbClr val="0070C0"/>
                </a:solidFill>
              </a:rPr>
              <a:t>Particle Filter Approach</a:t>
            </a:r>
            <a:endParaRPr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2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</a:t>
            </a:r>
            <a:r>
              <a:rPr lang="en" sz="2200" dirty="0" smtClean="0">
                <a:solidFill>
                  <a:srgbClr val="0070C0"/>
                </a:solidFill>
              </a:rPr>
              <a:t>Particle Filter Approach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6711"/>
            <a:ext cx="4337222" cy="1184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96191"/>
            <a:ext cx="4337223" cy="14643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12643"/>
            <a:ext cx="4337223" cy="11017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7223" y="1076711"/>
            <a:ext cx="4599436" cy="15923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7223" y="2779078"/>
            <a:ext cx="4599436" cy="115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3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</a:t>
            </a:r>
            <a:r>
              <a:rPr lang="en" sz="2200" dirty="0" smtClean="0">
                <a:solidFill>
                  <a:srgbClr val="0070C0"/>
                </a:solidFill>
              </a:rPr>
              <a:t>Particle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31234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Initialize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Preprocess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435176" y="1142999"/>
            <a:ext cx="54864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Initialize M Particles P</a:t>
            </a:r>
            <a:r>
              <a:rPr lang="en-US" baseline="-25000" dirty="0" smtClean="0"/>
              <a:t>i</a:t>
            </a:r>
            <a:r>
              <a:rPr lang="en-US" dirty="0" smtClean="0"/>
              <a:t> with uniform belief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Move </a:t>
            </a:r>
            <a:r>
              <a:rPr lang="en-US" dirty="0"/>
              <a:t>each P</a:t>
            </a:r>
            <a:r>
              <a:rPr lang="en-US" baseline="-25000" dirty="0"/>
              <a:t>i</a:t>
            </a:r>
            <a:r>
              <a:rPr lang="en-US" dirty="0" smtClean="0"/>
              <a:t> based on robot motion model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Compare predicted sensor reading Z</a:t>
            </a:r>
            <a:r>
              <a:rPr lang="en-US" baseline="-25000" dirty="0" smtClean="0"/>
              <a:t> expected</a:t>
            </a:r>
            <a:r>
              <a:rPr lang="en-US" dirty="0" smtClean="0"/>
              <a:t> with actual sensor reading Z</a:t>
            </a:r>
            <a:r>
              <a:rPr lang="en-US" baseline="-25000" dirty="0" smtClean="0"/>
              <a:t> measured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Optionally filter out surprising measurements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Weigh each P</a:t>
            </a:r>
            <a:r>
              <a:rPr lang="en-US" baseline="-25000" dirty="0" smtClean="0"/>
              <a:t>i</a:t>
            </a:r>
            <a:r>
              <a:rPr lang="en-US" dirty="0"/>
              <a:t> </a:t>
            </a:r>
            <a:r>
              <a:rPr lang="en-US" dirty="0" smtClean="0"/>
              <a:t>based on importance weights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Resample for particle set for next iteration based on Darwinian approach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Reset the belief of particles with equal likelihood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84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Initialize : M=4, 2D, 5X5, L(4.4), Move 1m east, Sensor noise = 0.5, </a:t>
            </a:r>
            <a:r>
              <a:rPr lang="en-US" b="1" dirty="0"/>
              <a:t>Z</a:t>
            </a:r>
            <a:r>
              <a:rPr lang="en-US" b="1" baseline="-25000" dirty="0"/>
              <a:t> </a:t>
            </a:r>
            <a:r>
              <a:rPr lang="en-US" b="1" baseline="-25000" dirty="0" smtClean="0"/>
              <a:t>m</a:t>
            </a:r>
            <a:r>
              <a:rPr lang="en-US" b="1" dirty="0"/>
              <a:t> = </a:t>
            </a:r>
            <a:r>
              <a:rPr lang="en-US" b="1" dirty="0" smtClean="0"/>
              <a:t>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4814299"/>
                  </p:ext>
                </p:extLst>
              </p:nvPr>
            </p:nvGraphicFramePr>
            <p:xfrm>
              <a:off x="5251621" y="2159319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0887" y="4098463"/>
            <a:ext cx="5481413" cy="8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35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6642837"/>
                  </p:ext>
                </p:extLst>
              </p:nvPr>
            </p:nvGraphicFramePr>
            <p:xfrm>
              <a:off x="5251621" y="2159319"/>
              <a:ext cx="3892381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1050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210256" r="-436667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302500" r="-43666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65500" y="3604359"/>
                <a:ext cx="3122650" cy="1224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Inefficient form </a:t>
                </a:r>
                <a:r>
                  <a:rPr lang="en-US" i="1" dirty="0" smtClean="0">
                    <a:latin typeface="Cambria Math" panose="02040503050406030204" pitchFamily="18" charset="0"/>
                  </a:rPr>
                  <a:t>(modified for simplicity)</a:t>
                </a:r>
                <a:endParaRPr lang="en-IN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IN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𝑣𝑐𝑜𝑠</m:t>
                            </m:r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endParaRPr lang="en-IN" dirty="0" smtClean="0"/>
              </a:p>
              <a:p>
                <a:endParaRPr lang="en-US" dirty="0"/>
              </a:p>
              <a:p>
                <a:r>
                  <a:rPr lang="en-US" dirty="0" smtClean="0"/>
                  <a:t>Linear Regression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 smtClean="0"/>
                  <a:t> +1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500" y="3604359"/>
                <a:ext cx="3122650" cy="1224566"/>
              </a:xfrm>
              <a:prstGeom prst="rect">
                <a:avLst/>
              </a:prstGeom>
              <a:blipFill>
                <a:blip r:embed="rId6"/>
                <a:stretch>
                  <a:fillRect l="-3516" t="-4975" r="-2539" b="-7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12141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1357278"/>
                  </p:ext>
                </p:extLst>
              </p:nvPr>
            </p:nvGraphicFramePr>
            <p:xfrm>
              <a:off x="5251621" y="2159319"/>
              <a:ext cx="3892381" cy="12141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105000" r="-436667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2050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312821" r="-436667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5599" y="4039943"/>
            <a:ext cx="1168400" cy="4965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36965" y="2363190"/>
                <a:ext cx="1781300" cy="1638590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Sample Calculation :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b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= ~0.14.</a:t>
                </a:r>
                <a:r>
                  <a:rPr lang="en-US" sz="1000" b="1" dirty="0" smtClean="0">
                    <a:solidFill>
                      <a:srgbClr val="FF0000"/>
                    </a:solidFill>
                  </a:rPr>
                  <a:t> For simplicity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000" b="1" dirty="0" smtClean="0">
                    <a:solidFill>
                      <a:srgbClr val="FF0000"/>
                    </a:solidFill>
                  </a:rPr>
                  <a:t> is assumed to be noise = 0.5. This is updated in all the upcoming slides with weight correction.</a:t>
                </a:r>
                <a:endParaRPr lang="en-I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65" y="2363190"/>
                <a:ext cx="1781300" cy="1638590"/>
              </a:xfrm>
              <a:prstGeom prst="rect">
                <a:avLst/>
              </a:prstGeom>
              <a:blipFill>
                <a:blip r:embed="rId9"/>
                <a:stretch>
                  <a:fillRect l="-1024" t="-746" b="-7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/>
          <p:cNvCxnSpPr/>
          <p:nvPr/>
        </p:nvCxnSpPr>
        <p:spPr>
          <a:xfrm rot="16200000" flipH="1">
            <a:off x="2927267" y="2024742"/>
            <a:ext cx="1341914" cy="3325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/>
          <p:nvPr/>
        </p:nvCxnSpPr>
        <p:spPr>
          <a:xfrm rot="10800000">
            <a:off x="4085113" y="2958882"/>
            <a:ext cx="2161309" cy="30683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46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184881"/>
                  </p:ext>
                </p:extLst>
              </p:nvPr>
            </p:nvGraphicFramePr>
            <p:xfrm>
              <a:off x="5251621" y="2159319"/>
              <a:ext cx="3892381" cy="1454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184881"/>
                  </p:ext>
                </p:extLst>
              </p:nvPr>
            </p:nvGraphicFramePr>
            <p:xfrm>
              <a:off x="5251621" y="2159319"/>
              <a:ext cx="3892381" cy="1454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105000" r="-436667" b="-4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210256" r="-436667" b="-32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3025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500000" r="-43666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289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Weigh</a:t>
            </a:r>
            <a:r>
              <a:rPr lang="en-US" dirty="0" smtClean="0"/>
              <a:t>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2073639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2073639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105000" r="-436667" b="-5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205000" r="-43666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312821" r="-436667" b="-3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515385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600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5599" y="4039943"/>
            <a:ext cx="1168400" cy="49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5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9510614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9510614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105000" r="-436667" b="-5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205000" r="-43666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312821" r="-436667" b="-3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515385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600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6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72" y="428800"/>
            <a:ext cx="8832300" cy="426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0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40146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40146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105000" r="-436667" b="-5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205000" r="-43666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312821" r="-436667" b="-3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515385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5"/>
                          <a:stretch>
                            <a:fillRect l="-833" t="-600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89338"/>
              </p:ext>
            </p:extLst>
          </p:nvPr>
        </p:nvGraphicFramePr>
        <p:xfrm>
          <a:off x="1886142" y="2105359"/>
          <a:ext cx="4197821" cy="2455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649694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8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8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268752" y="1143000"/>
            <a:ext cx="2542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One Naïve Estimation Model 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Average of Particles = (3,1,0) 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6306" y="508673"/>
            <a:ext cx="2202714" cy="16700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086" y="537587"/>
            <a:ext cx="2281345" cy="16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7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</a:t>
            </a:r>
            <a:r>
              <a:rPr lang="en" sz="2200" dirty="0" smtClean="0">
                <a:solidFill>
                  <a:srgbClr val="0070C0"/>
                </a:solidFill>
              </a:rPr>
              <a:t>Particle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31234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Initialize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435176" y="1142999"/>
            <a:ext cx="54864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Initialize M Particles P</a:t>
            </a:r>
            <a:r>
              <a:rPr lang="en-US" baseline="-25000" dirty="0" smtClean="0"/>
              <a:t>i</a:t>
            </a:r>
            <a:r>
              <a:rPr lang="en-US" dirty="0" smtClean="0"/>
              <a:t> with uniform belief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Move </a:t>
            </a:r>
            <a:r>
              <a:rPr lang="en-US" dirty="0"/>
              <a:t>each P</a:t>
            </a:r>
            <a:r>
              <a:rPr lang="en-US" baseline="-25000" dirty="0"/>
              <a:t>i</a:t>
            </a:r>
            <a:r>
              <a:rPr lang="en-US" dirty="0" smtClean="0"/>
              <a:t> based on robot motion model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Compare predicted sensor reading Z</a:t>
            </a:r>
            <a:r>
              <a:rPr lang="en-US" baseline="-25000" dirty="0" smtClean="0"/>
              <a:t> expected</a:t>
            </a:r>
            <a:r>
              <a:rPr lang="en-US" dirty="0" smtClean="0"/>
              <a:t> with actual sensor reading Z</a:t>
            </a:r>
            <a:r>
              <a:rPr lang="en-US" baseline="-25000" dirty="0" smtClean="0"/>
              <a:t> measured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trike="sngStrike" dirty="0" smtClean="0"/>
              <a:t>Optionally filter out surprising measurements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Weigh each P</a:t>
            </a:r>
            <a:r>
              <a:rPr lang="en-US" baseline="-25000" dirty="0" smtClean="0"/>
              <a:t>i</a:t>
            </a:r>
            <a:r>
              <a:rPr lang="en-US" dirty="0"/>
              <a:t> </a:t>
            </a:r>
            <a:r>
              <a:rPr lang="en-US" dirty="0" smtClean="0"/>
              <a:t>based on importance weights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Resample for particle set for next iteration based on Darwinian approach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Reset the belief of particles with equal likelihood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81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  </a:t>
            </a:r>
            <a:r>
              <a:rPr lang="en" sz="2200" dirty="0" smtClean="0">
                <a:solidFill>
                  <a:srgbClr val="0070C0"/>
                </a:solidFill>
              </a:rPr>
              <a:t>Augmented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Initialize : M=4, 2D, 5X5, L(4.4), Move 1m east, Sensor noise = 0.5, </a:t>
            </a:r>
            <a:r>
              <a:rPr lang="en-US" b="1" dirty="0"/>
              <a:t>Z</a:t>
            </a:r>
            <a:r>
              <a:rPr lang="en-US" b="1" baseline="-25000" dirty="0"/>
              <a:t> </a:t>
            </a:r>
            <a:r>
              <a:rPr lang="en-US" b="1" baseline="-25000" dirty="0" smtClean="0"/>
              <a:t>m</a:t>
            </a:r>
            <a:r>
              <a:rPr lang="en-US" b="1" dirty="0"/>
              <a:t> = </a:t>
            </a:r>
            <a:r>
              <a:rPr lang="en-US" b="1" dirty="0" smtClean="0"/>
              <a:t>5m, α</a:t>
            </a:r>
            <a:r>
              <a:rPr lang="en-US" b="1" baseline="-25000" dirty="0" smtClean="0"/>
              <a:t> fast</a:t>
            </a:r>
            <a:r>
              <a:rPr lang="en-US" b="1" dirty="0" smtClean="0"/>
              <a:t> </a:t>
            </a:r>
            <a:r>
              <a:rPr lang="en-US" b="1" dirty="0"/>
              <a:t>= </a:t>
            </a:r>
            <a:r>
              <a:rPr lang="en-US" b="1" dirty="0" smtClean="0"/>
              <a:t>0.5, </a:t>
            </a:r>
            <a:r>
              <a:rPr lang="en-US" b="1" dirty="0"/>
              <a:t>α</a:t>
            </a:r>
            <a:r>
              <a:rPr lang="en-US" b="1" baseline="-25000" dirty="0"/>
              <a:t> </a:t>
            </a:r>
            <a:r>
              <a:rPr lang="en-US" b="1" baseline="-25000" dirty="0" smtClean="0"/>
              <a:t>slow</a:t>
            </a:r>
            <a:r>
              <a:rPr lang="en-US" b="1" dirty="0" smtClean="0"/>
              <a:t> </a:t>
            </a:r>
            <a:r>
              <a:rPr lang="en-US" b="1" dirty="0"/>
              <a:t>= </a:t>
            </a:r>
            <a:r>
              <a:rPr lang="en-US" b="1" dirty="0" smtClean="0"/>
              <a:t>0.1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95" y="2892123"/>
            <a:ext cx="2342120" cy="21644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40908" y="2533135"/>
            <a:ext cx="147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 Change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78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7298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  <a:r>
              <a:rPr lang="en-US" b="1" dirty="0"/>
              <a:t> , α</a:t>
            </a:r>
            <a:r>
              <a:rPr lang="en-US" b="1" baseline="-25000" dirty="0"/>
              <a:t> fast</a:t>
            </a:r>
            <a:r>
              <a:rPr lang="en-US" b="1" dirty="0"/>
              <a:t> = 0.5, α</a:t>
            </a:r>
            <a:r>
              <a:rPr lang="en-US" b="1" baseline="-25000" dirty="0"/>
              <a:t> slow</a:t>
            </a:r>
            <a:r>
              <a:rPr lang="en-US" b="1" dirty="0"/>
              <a:t> = 0.1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b="1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10256" r="-436667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302500" r="-43666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65500" y="3604359"/>
                <a:ext cx="2992038" cy="1224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</a:rPr>
                  <a:t>(modified for simplicity)</a:t>
                </a:r>
                <a:endParaRPr lang="en-IN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IN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𝑣𝑐𝑜𝑠</m:t>
                            </m:r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endParaRPr lang="en-IN" dirty="0" smtClean="0"/>
              </a:p>
              <a:p>
                <a:endParaRPr lang="en-US" dirty="0"/>
              </a:p>
              <a:p>
                <a:r>
                  <a:rPr lang="en-US" dirty="0" smtClean="0"/>
                  <a:t>Linear Regression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 smtClean="0"/>
                  <a:t> +1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500" y="3604359"/>
                <a:ext cx="2992038" cy="1224566"/>
              </a:xfrm>
              <a:prstGeom prst="rect">
                <a:avLst/>
              </a:prstGeom>
              <a:blipFill>
                <a:blip r:embed="rId5"/>
                <a:stretch>
                  <a:fillRect l="-3666" t="-4975" r="-2648" b="-7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295" y="2892123"/>
            <a:ext cx="2342120" cy="2164442"/>
          </a:xfrm>
          <a:prstGeom prst="rect">
            <a:avLst/>
          </a:prstGeom>
        </p:spPr>
      </p:pic>
      <p:sp>
        <p:nvSpPr>
          <p:cNvPr id="12" name="Google Shape;254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  </a:t>
            </a:r>
            <a:r>
              <a:rPr lang="en" sz="2200" dirty="0" smtClean="0">
                <a:solidFill>
                  <a:srgbClr val="0070C0"/>
                </a:solidFill>
              </a:rPr>
              <a:t>Augmented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40908" y="2533135"/>
            <a:ext cx="147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 Change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31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9399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  <a:r>
              <a:rPr lang="en-US" b="1" dirty="0"/>
              <a:t> , α</a:t>
            </a:r>
            <a:r>
              <a:rPr lang="en-US" b="1" baseline="-25000" dirty="0"/>
              <a:t> fast</a:t>
            </a:r>
            <a:r>
              <a:rPr lang="en-US" b="1" dirty="0"/>
              <a:t> = 0.5, α</a:t>
            </a:r>
            <a:r>
              <a:rPr lang="en-US" b="1" baseline="-25000" dirty="0"/>
              <a:t> slow</a:t>
            </a:r>
            <a:r>
              <a:rPr lang="en-US" b="1" dirty="0"/>
              <a:t> = 0.1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12141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12141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436667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312821" r="-436667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599" y="4039943"/>
            <a:ext cx="1168400" cy="4965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295" y="2892123"/>
            <a:ext cx="2342120" cy="2164442"/>
          </a:xfrm>
          <a:prstGeom prst="rect">
            <a:avLst/>
          </a:prstGeom>
        </p:spPr>
      </p:pic>
      <p:sp>
        <p:nvSpPr>
          <p:cNvPr id="15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  </a:t>
            </a:r>
            <a:r>
              <a:rPr lang="en" sz="2200" dirty="0" smtClean="0">
                <a:solidFill>
                  <a:srgbClr val="0070C0"/>
                </a:solidFill>
              </a:rPr>
              <a:t>Augmented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40908" y="2533135"/>
            <a:ext cx="147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 Change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6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9399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  <a:r>
              <a:rPr lang="en-US" b="1" dirty="0"/>
              <a:t> , α</a:t>
            </a:r>
            <a:r>
              <a:rPr lang="en-US" b="1" baseline="-25000" dirty="0"/>
              <a:t> fast</a:t>
            </a:r>
            <a:r>
              <a:rPr lang="en-US" b="1" dirty="0"/>
              <a:t> = 0.5, α</a:t>
            </a:r>
            <a:r>
              <a:rPr lang="en-US" b="1" baseline="-25000" dirty="0"/>
              <a:t> slow</a:t>
            </a:r>
            <a:r>
              <a:rPr lang="en-US" b="1" dirty="0"/>
              <a:t> = 0.1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798855"/>
                  </p:ext>
                </p:extLst>
              </p:nvPr>
            </p:nvGraphicFramePr>
            <p:xfrm>
              <a:off x="5251621" y="2159319"/>
              <a:ext cx="3892381" cy="1454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798855"/>
                  </p:ext>
                </p:extLst>
              </p:nvPr>
            </p:nvGraphicFramePr>
            <p:xfrm>
              <a:off x="5251621" y="2159319"/>
              <a:ext cx="3892381" cy="1454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436667" b="-4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10256" r="-436667" b="-32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3025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500000" r="-43666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295" y="2892123"/>
            <a:ext cx="2342120" cy="2164442"/>
          </a:xfrm>
          <a:prstGeom prst="rect">
            <a:avLst/>
          </a:prstGeom>
        </p:spPr>
      </p:pic>
      <p:sp>
        <p:nvSpPr>
          <p:cNvPr id="13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  </a:t>
            </a:r>
            <a:r>
              <a:rPr lang="en" sz="2200" dirty="0" smtClean="0">
                <a:solidFill>
                  <a:srgbClr val="0070C0"/>
                </a:solidFill>
              </a:rPr>
              <a:t>Augmented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40908" y="2533135"/>
            <a:ext cx="147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 Change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09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9399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  <a:r>
              <a:rPr lang="en-US" b="1" dirty="0"/>
              <a:t> , α</a:t>
            </a:r>
            <a:r>
              <a:rPr lang="en-US" b="1" baseline="-25000" dirty="0"/>
              <a:t> fast</a:t>
            </a:r>
            <a:r>
              <a:rPr lang="en-US" b="1" dirty="0"/>
              <a:t> = 0.5, α</a:t>
            </a:r>
            <a:r>
              <a:rPr lang="en-US" b="1" baseline="-25000" dirty="0"/>
              <a:t> slow</a:t>
            </a:r>
            <a:r>
              <a:rPr lang="en-US" b="1" dirty="0"/>
              <a:t> = 0.1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Weigh</a:t>
            </a:r>
            <a:r>
              <a:rPr lang="en-US" dirty="0" smtClean="0"/>
              <a:t>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99058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99058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436667" b="-5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43666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312821" r="-436667" b="-3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515385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600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599" y="4039943"/>
            <a:ext cx="1168400" cy="4965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295" y="2892123"/>
            <a:ext cx="2342120" cy="2164442"/>
          </a:xfrm>
          <a:prstGeom prst="rect">
            <a:avLst/>
          </a:prstGeom>
        </p:spPr>
      </p:pic>
      <p:sp>
        <p:nvSpPr>
          <p:cNvPr id="1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  </a:t>
            </a:r>
            <a:r>
              <a:rPr lang="en" sz="2200" dirty="0" smtClean="0">
                <a:solidFill>
                  <a:srgbClr val="0070C0"/>
                </a:solidFill>
              </a:rPr>
              <a:t>Augmented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40908" y="2533135"/>
            <a:ext cx="147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 Change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79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51870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  <a:r>
              <a:rPr lang="en-US" b="1" dirty="0"/>
              <a:t> , α</a:t>
            </a:r>
            <a:r>
              <a:rPr lang="en-US" b="1" baseline="-25000" dirty="0"/>
              <a:t> fast</a:t>
            </a:r>
            <a:r>
              <a:rPr lang="en-US" b="1" dirty="0"/>
              <a:t> = 0.5, α</a:t>
            </a:r>
            <a:r>
              <a:rPr lang="en-US" b="1" baseline="-25000" dirty="0"/>
              <a:t> slow</a:t>
            </a:r>
            <a:r>
              <a:rPr lang="en-US" b="1" dirty="0"/>
              <a:t> = 0.1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6294389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6294389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436667" b="-5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43666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312821" r="-436667" b="-3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515385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600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295" y="2892123"/>
            <a:ext cx="2342120" cy="2164442"/>
          </a:xfrm>
          <a:prstGeom prst="rect">
            <a:avLst/>
          </a:prstGeom>
        </p:spPr>
      </p:pic>
      <p:sp>
        <p:nvSpPr>
          <p:cNvPr id="11" name="Google Shape;254;p42"/>
          <p:cNvSpPr txBox="1">
            <a:spLocks noGrp="1"/>
          </p:cNvSpPr>
          <p:nvPr>
            <p:ph type="title"/>
          </p:nvPr>
        </p:nvSpPr>
        <p:spPr>
          <a:xfrm>
            <a:off x="74700" y="14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  </a:t>
            </a:r>
            <a:r>
              <a:rPr lang="en" sz="2200" dirty="0" smtClean="0">
                <a:solidFill>
                  <a:srgbClr val="0070C0"/>
                </a:solidFill>
              </a:rPr>
              <a:t>Augmented MCL Algorithm</a:t>
            </a:r>
            <a:endParaRPr sz="2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51628" y="2062610"/>
                <a:ext cx="2542015" cy="494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IN" b="1" dirty="0" smtClean="0"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IN" sz="16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IN" sz="1600" b="1" dirty="0">
                                <a:latin typeface="Calibri" panose="020F0502020204030204" pitchFamily="34" charset="0"/>
                              </a:rPr>
                              <m:t> </m:t>
                            </m:r>
                          </m:e>
                        </m:nary>
                      </m:num>
                      <m:den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b="1" dirty="0" smtClean="0">
                    <a:latin typeface="Calibri" panose="020F0502020204030204" pitchFamily="34" charset="0"/>
                  </a:rPr>
                  <a:t> = ~0.03975 </a:t>
                </a:r>
                <a:endParaRPr lang="en-IN" b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628" y="2062610"/>
                <a:ext cx="2542015" cy="494046"/>
              </a:xfrm>
              <a:prstGeom prst="rect">
                <a:avLst/>
              </a:prstGeom>
              <a:blipFill>
                <a:blip r:embed="rId7"/>
                <a:stretch>
                  <a:fillRect t="-44444" b="-469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61842" y="2872722"/>
                <a:ext cx="2831801" cy="3617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/>
                  <a:t> α</a:t>
                </a:r>
                <a:r>
                  <a:rPr lang="en-US" baseline="-25000" dirty="0"/>
                  <a:t> fast</a:t>
                </a:r>
                <a:r>
                  <a:rPr lang="en-IN" dirty="0" smtClean="0">
                    <a:latin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  <m:sup/>
                    </m:sSubSup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dirty="0"/>
                          <m:t>α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fast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  <m:sup/>
                    </m:sSub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42" y="2872722"/>
                <a:ext cx="2831801" cy="361766"/>
              </a:xfrm>
              <a:prstGeom prst="rect">
                <a:avLst/>
              </a:prstGeom>
              <a:blipFill>
                <a:blip r:embed="rId8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541382" y="3822255"/>
                <a:ext cx="2981778" cy="3486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/>
                  <a:t> α</a:t>
                </a:r>
                <a:r>
                  <a:rPr lang="en-US" baseline="-25000" dirty="0"/>
                  <a:t> </a:t>
                </a:r>
                <a:r>
                  <a:rPr lang="en-US" baseline="-25000" dirty="0" smtClean="0"/>
                  <a:t>slow</a:t>
                </a:r>
                <a:r>
                  <a:rPr lang="en-IN" dirty="0" smtClean="0">
                    <a:latin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  <m:sup/>
                    </m:sSubSup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dirty="0"/>
                          <m:t>α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  <m:sup/>
                    </m:sSub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382" y="3822255"/>
                <a:ext cx="2981778" cy="348622"/>
              </a:xfrm>
              <a:prstGeom prst="rect">
                <a:avLst/>
              </a:prstGeom>
              <a:blipFill>
                <a:blip r:embed="rId9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61842" y="3173812"/>
                <a:ext cx="3108287" cy="577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 smtClean="0"/>
                  <a:t>0.5</a:t>
                </a:r>
                <a:r>
                  <a:rPr lang="en-IN" dirty="0" smtClean="0">
                    <a:latin typeface="Calibri" panose="020F0502020204030204" pitchFamily="34" charset="0"/>
                  </a:rPr>
                  <a:t>) (0.5)</a:t>
                </a:r>
                <a:r>
                  <a:rPr lang="en-IN" dirty="0" smtClean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(0.5)(0.03975)</m:t>
                        </m:r>
                      </m:e>
                      <m:sub/>
                      <m:sup/>
                    </m:sSubSup>
                  </m:oMath>
                </a14:m>
                <a:endParaRPr lang="en-US" dirty="0" smtClean="0"/>
              </a:p>
              <a:p>
                <a:r>
                  <a:rPr lang="en-US" dirty="0" smtClean="0"/>
                  <a:t>= ~0.27</a:t>
                </a:r>
                <a:endParaRPr lang="en-IN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42" y="3173812"/>
                <a:ext cx="3108287" cy="577209"/>
              </a:xfrm>
              <a:prstGeom prst="rect">
                <a:avLst/>
              </a:prstGeom>
              <a:blipFill>
                <a:blip r:embed="rId10"/>
                <a:stretch>
                  <a:fillRect l="-588" b="-10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532248" y="4071072"/>
                <a:ext cx="3131755" cy="5642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 smtClean="0"/>
                  <a:t>0.1</a:t>
                </a:r>
                <a:r>
                  <a:rPr lang="en-IN" dirty="0" smtClean="0">
                    <a:latin typeface="Calibri" panose="020F0502020204030204" pitchFamily="34" charset="0"/>
                  </a:rPr>
                  <a:t>) (0.9)</a:t>
                </a:r>
                <a:r>
                  <a:rPr lang="en-IN" dirty="0" smtClean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(0.1)(0.03975)</m:t>
                        </m:r>
                      </m:e>
                      <m:sub/>
                      <m:sup/>
                    </m:sSubSup>
                  </m:oMath>
                </a14:m>
                <a:endParaRPr lang="en-US" dirty="0" smtClean="0"/>
              </a:p>
              <a:p>
                <a:r>
                  <a:rPr lang="en-US" dirty="0" smtClean="0"/>
                  <a:t>= ~0.81</a:t>
                </a:r>
                <a:endParaRPr lang="en-IN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248" y="4071072"/>
                <a:ext cx="3131755" cy="564257"/>
              </a:xfrm>
              <a:prstGeom prst="rect">
                <a:avLst/>
              </a:prstGeom>
              <a:blipFill>
                <a:blip r:embed="rId11"/>
                <a:stretch>
                  <a:fillRect l="-584" b="-10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048587" y="3822255"/>
                <a:ext cx="3041501" cy="1205523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 fontAlgn="b"/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𝐿𝑖𝑘𝑒𝑙𝑖h𝑜𝑜𝑑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𝑅𝑎𝑡𝑖𝑜</m:t>
                    </m:r>
                  </m:oMath>
                </a14:m>
                <a:r>
                  <a:rPr lang="en-IN" sz="1100" b="1" dirty="0" smtClean="0"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𝟐𝟕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𝟖𝟏</m:t>
                        </m:r>
                      </m:den>
                    </m:f>
                  </m:oMath>
                </a14:m>
                <a:r>
                  <a:rPr lang="en-IN" sz="1100" b="1" dirty="0" smtClean="0">
                    <a:latin typeface="Calibri" panose="020F0502020204030204" pitchFamily="34" charset="0"/>
                  </a:rPr>
                  <a:t> = 0.33</a:t>
                </a:r>
              </a:p>
              <a:p>
                <a:pPr algn="ctr" fontAlgn="b"/>
                <a:r>
                  <a:rPr lang="en-IN" sz="1100" b="1" dirty="0" smtClean="0">
                    <a:latin typeface="Calibri" panose="020F0502020204030204" pitchFamily="34" charset="0"/>
                  </a:rPr>
                  <a:t>MAX{0, (1-0.33)} = ~0.67</a:t>
                </a:r>
              </a:p>
              <a:p>
                <a:pPr algn="ctr" fontAlgn="b"/>
                <a:r>
                  <a:rPr lang="en-US" sz="1100" b="1" dirty="0" smtClean="0">
                    <a:latin typeface="Calibri" panose="020F0502020204030204" pitchFamily="34" charset="0"/>
                  </a:rPr>
                  <a:t>Hence for M=4 number of particle selection in next round with 0.67 probability (approx. to 70 only for this slide’s example), exploration proceeds and for rest exploitation is preferred</a:t>
                </a:r>
                <a:endParaRPr lang="en-IN" sz="1100" b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587" y="3822255"/>
                <a:ext cx="3041501" cy="1205523"/>
              </a:xfrm>
              <a:prstGeom prst="rect">
                <a:avLst/>
              </a:prstGeom>
              <a:blipFill>
                <a:blip r:embed="rId12"/>
                <a:stretch>
                  <a:fillRect b="-25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4317325" y="1441423"/>
            <a:ext cx="2542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One Naïve Estimation Model 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Average of Particles = (3,1,0)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1842" y="4558589"/>
            <a:ext cx="3584722" cy="40011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C00000"/>
                </a:solidFill>
              </a:rPr>
              <a:t>Inference : Approx. 30% of Particles are Informative. Retain them . Need randomization for other 70% of M particles!</a:t>
            </a:r>
            <a:endParaRPr lang="en-IN" sz="1000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4202" y="363553"/>
            <a:ext cx="3314372" cy="86177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rgbClr val="FF0000"/>
                </a:solidFill>
              </a:rPr>
              <a:t>Note</a:t>
            </a:r>
            <a:r>
              <a:rPr lang="en-US" sz="1000" dirty="0" smtClean="0">
                <a:solidFill>
                  <a:srgbClr val="FF0000"/>
                </a:solidFill>
              </a:rPr>
              <a:t> : Changes are made to illustrate both the process. Assume Short term likelihood = 0.5 instead of 0 and long term likelihood of 0.9 instead of 0. </a:t>
            </a:r>
          </a:p>
          <a:p>
            <a:r>
              <a:rPr lang="en-US" sz="1000" dirty="0" smtClean="0">
                <a:solidFill>
                  <a:srgbClr val="FF0000"/>
                </a:solidFill>
              </a:rPr>
              <a:t>Since initial values used in live class room discussion was not yielding the expected inference this is updated.</a:t>
            </a:r>
            <a:endParaRPr lang="en-IN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37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50758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</a:t>
            </a:r>
            <a:r>
              <a:rPr lang="en-US" b="1" dirty="0"/>
              <a:t> , α</a:t>
            </a:r>
            <a:r>
              <a:rPr lang="en-US" b="1" baseline="-25000" dirty="0"/>
              <a:t> fast</a:t>
            </a:r>
            <a:r>
              <a:rPr lang="en-US" b="1" dirty="0"/>
              <a:t> = 0.5, α</a:t>
            </a:r>
            <a:r>
              <a:rPr lang="en-US" b="1" baseline="-25000" dirty="0"/>
              <a:t> slow</a:t>
            </a:r>
            <a:r>
              <a:rPr lang="en-US" b="1" dirty="0"/>
              <a:t> = 0.1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664" y="537588"/>
            <a:ext cx="2215336" cy="1605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6656498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6656498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436667" b="-5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436667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312821" r="-436667" b="-3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3.6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515385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600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0.8805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0.0013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0.1132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0.0031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448" y="522972"/>
            <a:ext cx="2261551" cy="1620364"/>
          </a:xfrm>
          <a:prstGeom prst="rect">
            <a:avLst/>
          </a:prstGeom>
        </p:spPr>
      </p:pic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530984"/>
              </p:ext>
            </p:extLst>
          </p:nvPr>
        </p:nvGraphicFramePr>
        <p:xfrm>
          <a:off x="1776885" y="1840770"/>
          <a:ext cx="4197821" cy="2455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3431898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(4,2,0)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(0,0,0)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(6,2,0)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3431898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7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4,2,0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(0,0,0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(6,2,0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7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241844" y="1416530"/>
            <a:ext cx="2542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One Naïve Estimation Model 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Average of Particles = (2,1,0) 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6306" y="508673"/>
            <a:ext cx="2202714" cy="16700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086" y="537587"/>
            <a:ext cx="2281345" cy="16004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95" y="2892123"/>
            <a:ext cx="2342120" cy="2164442"/>
          </a:xfrm>
          <a:prstGeom prst="rect">
            <a:avLst/>
          </a:prstGeom>
        </p:spPr>
      </p:pic>
      <p:sp>
        <p:nvSpPr>
          <p:cNvPr id="1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  </a:t>
            </a:r>
            <a:r>
              <a:rPr lang="en" sz="2200" dirty="0" smtClean="0">
                <a:solidFill>
                  <a:srgbClr val="0070C0"/>
                </a:solidFill>
              </a:rPr>
              <a:t>Augmented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13005" y="4222291"/>
            <a:ext cx="2518813" cy="78483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rgbClr val="C00000"/>
                </a:solidFill>
              </a:rPr>
              <a:t>Based on previous assumptions note that for next iteration 3 particles are picked from random process and only one (30%) of M is from </a:t>
            </a:r>
            <a:r>
              <a:rPr lang="en-US" sz="900" dirty="0">
                <a:solidFill>
                  <a:srgbClr val="C00000"/>
                </a:solidFill>
              </a:rPr>
              <a:t>old </a:t>
            </a:r>
            <a:r>
              <a:rPr lang="en-US" sz="900" dirty="0" smtClean="0">
                <a:solidFill>
                  <a:srgbClr val="C00000"/>
                </a:solidFill>
              </a:rPr>
              <a:t>pool </a:t>
            </a:r>
            <a:r>
              <a:rPr lang="en-US" sz="900" dirty="0" err="1" smtClean="0">
                <a:solidFill>
                  <a:srgbClr val="C00000"/>
                </a:solidFill>
              </a:rPr>
              <a:t>ie</a:t>
            </a:r>
            <a:r>
              <a:rPr lang="en-US" sz="900" dirty="0" smtClean="0">
                <a:solidFill>
                  <a:srgbClr val="C00000"/>
                </a:solidFill>
              </a:rPr>
              <a:t>., P1. Proceed next iteration with this resampled pool of M particles!</a:t>
            </a:r>
            <a:endParaRPr lang="en-IN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0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</a:t>
            </a:r>
            <a:r>
              <a:rPr lang="en" sz="2200" dirty="0" smtClean="0">
                <a:solidFill>
                  <a:srgbClr val="0070C0"/>
                </a:solidFill>
              </a:rPr>
              <a:t>Particle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31234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Initialize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435176" y="1142999"/>
            <a:ext cx="5486402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Initialize M Particles P</a:t>
            </a:r>
            <a:r>
              <a:rPr lang="en-US" baseline="-25000" dirty="0" smtClean="0"/>
              <a:t>i</a:t>
            </a:r>
            <a:r>
              <a:rPr lang="en-US" dirty="0" smtClean="0"/>
              <a:t> with uniform belief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Move </a:t>
            </a:r>
            <a:r>
              <a:rPr lang="en-US" dirty="0"/>
              <a:t>each P</a:t>
            </a:r>
            <a:r>
              <a:rPr lang="en-US" baseline="-25000" dirty="0"/>
              <a:t>i</a:t>
            </a:r>
            <a:r>
              <a:rPr lang="en-US" dirty="0" smtClean="0"/>
              <a:t> based on robot motion model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Compare predicted sensor reading Z</a:t>
            </a:r>
            <a:r>
              <a:rPr lang="en-US" baseline="-25000" dirty="0" smtClean="0"/>
              <a:t> expected</a:t>
            </a:r>
            <a:r>
              <a:rPr lang="en-US" dirty="0" smtClean="0"/>
              <a:t> with actual sensor reading Z</a:t>
            </a:r>
            <a:r>
              <a:rPr lang="en-US" baseline="-25000" dirty="0" smtClean="0"/>
              <a:t> measured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trike="sngStrike" dirty="0" smtClean="0"/>
              <a:t>Optionally filter out surprising measurements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Weigh each P</a:t>
            </a:r>
            <a:r>
              <a:rPr lang="en-US" baseline="-25000" dirty="0" smtClean="0"/>
              <a:t>i</a:t>
            </a:r>
            <a:r>
              <a:rPr lang="en-US" dirty="0"/>
              <a:t> </a:t>
            </a:r>
            <a:r>
              <a:rPr lang="en-US" dirty="0" smtClean="0"/>
              <a:t>based on importance weights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Resample for particle set for next iteration based on Darwinian approach augmented with short term vs long term likelihood ratio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Reset the belief of particles with equal likelihood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51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Initialize : M=4, 2D, 5X5, L(4.4), Move 1m east, Sensor noise = 0.5, </a:t>
            </a:r>
            <a:r>
              <a:rPr lang="en-US" b="1" dirty="0"/>
              <a:t>Z</a:t>
            </a:r>
            <a:r>
              <a:rPr lang="en-US" b="1" baseline="-25000" dirty="0"/>
              <a:t> </a:t>
            </a:r>
            <a:r>
              <a:rPr lang="en-US" b="1" baseline="-25000" dirty="0" smtClean="0"/>
              <a:t>m</a:t>
            </a:r>
            <a:r>
              <a:rPr lang="en-US" b="1" dirty="0"/>
              <a:t> = </a:t>
            </a:r>
            <a:r>
              <a:rPr lang="en-US" b="1" dirty="0" smtClean="0"/>
              <a:t>5m, </a:t>
            </a:r>
            <a:r>
              <a:rPr lang="el-GR" b="1" dirty="0" smtClean="0"/>
              <a:t>Φ</a:t>
            </a:r>
            <a:r>
              <a:rPr lang="en-US" b="1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3099168"/>
                  </p:ext>
                </p:extLst>
              </p:nvPr>
            </p:nvGraphicFramePr>
            <p:xfrm>
              <a:off x="5251621" y="2159319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848" y="528411"/>
            <a:ext cx="2176152" cy="16309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13005" y="4222291"/>
            <a:ext cx="2518813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rgbClr val="C00000"/>
                </a:solidFill>
              </a:rPr>
              <a:t>Important Note  </a:t>
            </a:r>
            <a:r>
              <a:rPr lang="en-US" sz="900" dirty="0" smtClean="0">
                <a:solidFill>
                  <a:srgbClr val="C00000"/>
                </a:solidFill>
              </a:rPr>
              <a:t>:The picture with algorithm is a variation of standard Mixture MCL for reference but the given numerical problem is a flavor of vanilla Mixture MCL. </a:t>
            </a:r>
            <a:endParaRPr lang="en-IN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99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5m, </a:t>
            </a:r>
            <a:r>
              <a:rPr lang="el-GR" dirty="0" smtClean="0"/>
              <a:t>Φ</a:t>
            </a:r>
            <a:r>
              <a:rPr lang="en-US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0389742"/>
                  </p:ext>
                </p:extLst>
              </p:nvPr>
            </p:nvGraphicFramePr>
            <p:xfrm>
              <a:off x="5251621" y="2159319"/>
              <a:ext cx="3892381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10256" r="-436667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02500" r="-43666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65500" y="3604359"/>
                <a:ext cx="2992038" cy="1224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</a:rPr>
                  <a:t>(modified for simplicity)</a:t>
                </a:r>
                <a:endParaRPr lang="en-IN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IN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𝑣𝑐𝑜𝑠</m:t>
                            </m:r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endParaRPr lang="en-IN" dirty="0" smtClean="0"/>
              </a:p>
              <a:p>
                <a:endParaRPr lang="en-US" dirty="0"/>
              </a:p>
              <a:p>
                <a:r>
                  <a:rPr lang="en-US" dirty="0" smtClean="0"/>
                  <a:t>Linear Regression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 smtClean="0"/>
                  <a:t> +1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500" y="3604359"/>
                <a:ext cx="2992038" cy="1224566"/>
              </a:xfrm>
              <a:prstGeom prst="rect">
                <a:avLst/>
              </a:prstGeom>
              <a:blipFill>
                <a:blip r:embed="rId4"/>
                <a:stretch>
                  <a:fillRect l="-3666" t="-4975" r="-2648" b="-7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sp>
        <p:nvSpPr>
          <p:cNvPr id="15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13005" y="4222291"/>
            <a:ext cx="2518813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rgbClr val="C00000"/>
                </a:solidFill>
              </a:rPr>
              <a:t>P1 is drawn from the distribution of sensor </a:t>
            </a:r>
            <a:r>
              <a:rPr lang="en-US" sz="900" dirty="0">
                <a:solidFill>
                  <a:srgbClr val="C00000"/>
                </a:solidFill>
              </a:rPr>
              <a:t>measurement! Since P1will not be affected by motion model due to swap of role, its (</a:t>
            </a:r>
            <a:r>
              <a:rPr lang="en-US" sz="900" dirty="0" err="1">
                <a:solidFill>
                  <a:srgbClr val="C00000"/>
                </a:solidFill>
              </a:rPr>
              <a:t>x,y</a:t>
            </a:r>
            <a:r>
              <a:rPr lang="en-US" sz="900" dirty="0">
                <a:solidFill>
                  <a:srgbClr val="C00000"/>
                </a:solidFill>
              </a:rPr>
              <a:t>…) values remain same. </a:t>
            </a:r>
            <a:endParaRPr lang="en-IN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62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12141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3756074"/>
                  </p:ext>
                </p:extLst>
              </p:nvPr>
            </p:nvGraphicFramePr>
            <p:xfrm>
              <a:off x="5251621" y="2159319"/>
              <a:ext cx="3892381" cy="12141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050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12821" r="-436667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666" y="4218531"/>
            <a:ext cx="1168400" cy="496570"/>
          </a:xfrm>
          <a:prstGeom prst="rect">
            <a:avLst/>
          </a:prstGeom>
        </p:spPr>
      </p:pic>
      <p:sp>
        <p:nvSpPr>
          <p:cNvPr id="17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5m, </a:t>
            </a:r>
            <a:r>
              <a:rPr lang="el-GR" dirty="0" smtClean="0"/>
              <a:t>Φ</a:t>
            </a:r>
            <a:r>
              <a:rPr lang="en-US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13005" y="3127185"/>
            <a:ext cx="2289916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900" dirty="0" err="1" smtClean="0">
                <a:solidFill>
                  <a:srgbClr val="C00000"/>
                </a:solidFill>
              </a:rPr>
              <a:t>Ze</a:t>
            </a:r>
            <a:r>
              <a:rPr lang="en-US" sz="900" dirty="0" smtClean="0">
                <a:solidFill>
                  <a:srgbClr val="C00000"/>
                </a:solidFill>
              </a:rPr>
              <a:t> is measured using this form as usual. </a:t>
            </a:r>
          </a:p>
          <a:p>
            <a:r>
              <a:rPr lang="en-US" sz="900" dirty="0" smtClean="0">
                <a:solidFill>
                  <a:srgbClr val="C00000"/>
                </a:solidFill>
              </a:rPr>
              <a:t>But for P1 alternatively you may redesign a motion model based estimator like </a:t>
            </a:r>
          </a:p>
          <a:p>
            <a:r>
              <a:rPr lang="en-US" sz="900" dirty="0" smtClean="0">
                <a:solidFill>
                  <a:srgbClr val="C00000"/>
                </a:solidFill>
              </a:rPr>
              <a:t>this to determine Ze,1</a:t>
            </a:r>
            <a:endParaRPr lang="en-IN" sz="900" dirty="0">
              <a:solidFill>
                <a:srgbClr val="C00000"/>
              </a:solidFill>
            </a:endParaRPr>
          </a:p>
        </p:txBody>
      </p:sp>
      <p:cxnSp>
        <p:nvCxnSpPr>
          <p:cNvPr id="3" name="Curved Connector 2"/>
          <p:cNvCxnSpPr/>
          <p:nvPr/>
        </p:nvCxnSpPr>
        <p:spPr>
          <a:xfrm>
            <a:off x="4124325" y="3228975"/>
            <a:ext cx="1715523" cy="96003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endCxn id="10" idx="2"/>
          </p:cNvCxnSpPr>
          <p:nvPr/>
        </p:nvCxnSpPr>
        <p:spPr>
          <a:xfrm>
            <a:off x="2677424" y="3718556"/>
            <a:ext cx="5844442" cy="996545"/>
          </a:xfrm>
          <a:prstGeom prst="curvedConnector4">
            <a:avLst>
              <a:gd name="adj1" fmla="val 40438"/>
              <a:gd name="adj2" fmla="val 113381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00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5m, </a:t>
            </a:r>
            <a:r>
              <a:rPr lang="el-GR" dirty="0" smtClean="0"/>
              <a:t>Φ</a:t>
            </a:r>
            <a:r>
              <a:rPr lang="en-US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728098"/>
                  </p:ext>
                </p:extLst>
              </p:nvPr>
            </p:nvGraphicFramePr>
            <p:xfrm>
              <a:off x="5251621" y="2159319"/>
              <a:ext cx="3892381" cy="1454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4728098"/>
                  </p:ext>
                </p:extLst>
              </p:nvPr>
            </p:nvGraphicFramePr>
            <p:xfrm>
              <a:off x="5251621" y="2159319"/>
              <a:ext cx="3892381" cy="14548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4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10256" r="-436667" b="-32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02500" r="-43666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500000" r="-436667" b="-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sp>
        <p:nvSpPr>
          <p:cNvPr id="15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11698" y="1143000"/>
            <a:ext cx="53271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5m, </a:t>
            </a:r>
            <a:r>
              <a:rPr lang="el-GR" dirty="0" smtClean="0"/>
              <a:t>Φ</a:t>
            </a:r>
            <a:r>
              <a:rPr lang="en-US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Weigh</a:t>
            </a:r>
            <a:r>
              <a:rPr lang="en-US" dirty="0" smtClean="0"/>
              <a:t> </a:t>
            </a:r>
            <a:r>
              <a:rPr lang="en-US" sz="700" dirty="0" smtClean="0">
                <a:solidFill>
                  <a:srgbClr val="C00000"/>
                </a:solidFill>
              </a:rPr>
              <a:t>(Not efficient in pooling diverse particles in next iteration. Assumed that P1 uses </a:t>
            </a:r>
            <a:r>
              <a:rPr lang="en-US" sz="700" dirty="0" err="1" smtClean="0">
                <a:solidFill>
                  <a:srgbClr val="C00000"/>
                </a:solidFill>
              </a:rPr>
              <a:t>Ze</a:t>
            </a:r>
            <a:r>
              <a:rPr lang="en-US" sz="700" dirty="0" smtClean="0">
                <a:solidFill>
                  <a:srgbClr val="C00000"/>
                </a:solidFill>
              </a:rPr>
              <a:t> for W1 update)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324704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324704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5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05000" r="-436667" b="-4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12821" r="-436667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515385" r="-436667" b="-1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600000" r="-436667" b="-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560" y="4189014"/>
            <a:ext cx="5017740" cy="69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39848" y="3883019"/>
            <a:ext cx="2104535" cy="8617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i="1" dirty="0" smtClean="0">
                <a:latin typeface="Cambria Math" panose="02040503050406030204" pitchFamily="18" charset="0"/>
              </a:rPr>
              <a:t>(modified for simplicity)</a:t>
            </a:r>
          </a:p>
          <a:p>
            <a:endParaRPr lang="en-US" i="1" dirty="0" smtClean="0">
              <a:latin typeface="Cambria Math" panose="02040503050406030204" pitchFamily="18" charset="0"/>
            </a:endParaRPr>
          </a:p>
          <a:p>
            <a:endParaRPr lang="en-IN" i="1" dirty="0" smtClean="0">
              <a:latin typeface="Cambria Math" panose="02040503050406030204" pitchFamily="18" charset="0"/>
            </a:endParaRPr>
          </a:p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599" y="4039943"/>
            <a:ext cx="1168400" cy="4965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sp>
        <p:nvSpPr>
          <p:cNvPr id="1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6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Initialize : M=4, 2D, 5X5, L(4.4), Move 1m east, Sensor noise = 0.5, </a:t>
            </a:r>
            <a:r>
              <a:rPr lang="en-US" b="1" dirty="0"/>
              <a:t>Z</a:t>
            </a:r>
            <a:r>
              <a:rPr lang="en-US" b="1" baseline="-25000" dirty="0"/>
              <a:t> </a:t>
            </a:r>
            <a:r>
              <a:rPr lang="en-US" b="1" baseline="-25000" dirty="0" smtClean="0"/>
              <a:t>m</a:t>
            </a:r>
            <a:r>
              <a:rPr lang="en-US" b="1" dirty="0"/>
              <a:t> = </a:t>
            </a:r>
            <a:r>
              <a:rPr lang="en-US" b="1" dirty="0" smtClean="0"/>
              <a:t>5m, </a:t>
            </a:r>
            <a:r>
              <a:rPr lang="el-GR" b="1" dirty="0" smtClean="0"/>
              <a:t>Φ</a:t>
            </a:r>
            <a:r>
              <a:rPr lang="en-US" b="1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9617502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9617502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5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05000" r="-436667" b="-4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12821" r="-436667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515385" r="-436667" b="-1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600000" r="-436667" b="-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8962290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241844" y="1368716"/>
            <a:ext cx="25420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One Naïve Estimation Model 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Average of Particles = (1.4,0.6,0) 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sp>
        <p:nvSpPr>
          <p:cNvPr id="19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</a:t>
            </a:r>
            <a:r>
              <a:rPr lang="en" sz="2400" dirty="0">
                <a:solidFill>
                  <a:srgbClr val="00B0F0"/>
                </a:solidFill>
              </a:rPr>
              <a:t> </a:t>
            </a:r>
            <a:r>
              <a:rPr lang="en" sz="2400" dirty="0" smtClean="0">
                <a:solidFill>
                  <a:srgbClr val="00B0F0"/>
                </a:solidFill>
              </a:rPr>
              <a:t>      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798299" y="3854811"/>
            <a:ext cx="33053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 smtClean="0">
                <a:solidFill>
                  <a:srgbClr val="C00000"/>
                </a:solidFill>
              </a:rPr>
              <a:t>Observe</a:t>
            </a:r>
            <a:r>
              <a:rPr lang="en-US" sz="800" dirty="0" smtClean="0">
                <a:solidFill>
                  <a:srgbClr val="C00000"/>
                </a:solidFill>
              </a:rPr>
              <a:t> : Though the mixture model is able to handle noisy motion model from influencing the M, due to high Wi of Sensor model based particle P1, its not </a:t>
            </a:r>
            <a:r>
              <a:rPr lang="en-US" sz="800" dirty="0">
                <a:solidFill>
                  <a:srgbClr val="C00000"/>
                </a:solidFill>
              </a:rPr>
              <a:t>efficient in pooling diverse particles in next </a:t>
            </a:r>
            <a:r>
              <a:rPr lang="en-US" sz="800" dirty="0" smtClean="0">
                <a:solidFill>
                  <a:srgbClr val="C00000"/>
                </a:solidFill>
              </a:rPr>
              <a:t>iteration if roulette wheel based mechanism is used.</a:t>
            </a:r>
          </a:p>
          <a:p>
            <a:r>
              <a:rPr lang="en-US" sz="800" b="1" dirty="0" smtClean="0">
                <a:solidFill>
                  <a:srgbClr val="7030A0"/>
                </a:solidFill>
              </a:rPr>
              <a:t>Solutions: Use AIML to determine the balance between exploration vs exploitation OR use traditional Augmented MCL technique OR use Mixture model ratio to pool for next iteration!! </a:t>
            </a:r>
            <a:r>
              <a:rPr lang="en-US" sz="800" b="1" dirty="0" smtClean="0">
                <a:solidFill>
                  <a:srgbClr val="7030A0"/>
                </a:solidFill>
                <a:sym typeface="Wingdings" panose="05000000000000000000" pitchFamily="2" charset="2"/>
              </a:rPr>
              <a:t></a:t>
            </a:r>
          </a:p>
          <a:p>
            <a:r>
              <a:rPr lang="en-US" sz="800" b="1" dirty="0" smtClean="0">
                <a:solidFill>
                  <a:srgbClr val="7030A0"/>
                </a:solidFill>
              </a:rPr>
              <a:t> </a:t>
            </a:r>
            <a:endParaRPr lang="en-US" sz="800" b="1" dirty="0">
              <a:solidFill>
                <a:srgbClr val="7030A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4522" y="2092233"/>
            <a:ext cx="2932430" cy="176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5m, </a:t>
            </a:r>
            <a:r>
              <a:rPr lang="el-GR" dirty="0" smtClean="0"/>
              <a:t>Φ</a:t>
            </a:r>
            <a:r>
              <a:rPr lang="en-US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999875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5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05000" r="-436667" b="-4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12821" r="-436667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515385" r="-436667" b="-1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600000" r="-436667" b="-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sp>
        <p:nvSpPr>
          <p:cNvPr id="21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     Idea 2: (Augmented)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11" y="452888"/>
            <a:ext cx="2170087" cy="17064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851628" y="2062610"/>
                <a:ext cx="2542015" cy="494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IN" b="1" dirty="0" smtClean="0"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IN" sz="16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IN" sz="1600" b="1" dirty="0">
                                <a:latin typeface="Calibri" panose="020F0502020204030204" pitchFamily="34" charset="0"/>
                              </a:rPr>
                              <m:t> </m:t>
                            </m:r>
                          </m:e>
                        </m:nary>
                      </m:num>
                      <m:den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b="1" dirty="0" smtClean="0">
                    <a:latin typeface="Calibri" panose="020F0502020204030204" pitchFamily="34" charset="0"/>
                  </a:rPr>
                  <a:t> = ~0.2535 </a:t>
                </a:r>
                <a:endParaRPr lang="en-IN" b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628" y="2062610"/>
                <a:ext cx="2542015" cy="494046"/>
              </a:xfrm>
              <a:prstGeom prst="rect">
                <a:avLst/>
              </a:prstGeom>
              <a:blipFill>
                <a:blip r:embed="rId7"/>
                <a:stretch>
                  <a:fillRect t="-44444" b="-469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561842" y="2872722"/>
                <a:ext cx="2831801" cy="3617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/>
                  <a:t> α</a:t>
                </a:r>
                <a:r>
                  <a:rPr lang="en-US" baseline="-25000" dirty="0"/>
                  <a:t> fast</a:t>
                </a:r>
                <a:r>
                  <a:rPr lang="en-IN" dirty="0" smtClean="0">
                    <a:latin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  <m:sup/>
                    </m:sSubSup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dirty="0"/>
                          <m:t>α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fast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  <m:sup/>
                    </m:sSub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42" y="2872722"/>
                <a:ext cx="2831801" cy="361766"/>
              </a:xfrm>
              <a:prstGeom prst="rect">
                <a:avLst/>
              </a:prstGeom>
              <a:blipFill>
                <a:blip r:embed="rId8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541382" y="3822255"/>
                <a:ext cx="2981778" cy="3486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/>
                  <a:t> α</a:t>
                </a:r>
                <a:r>
                  <a:rPr lang="en-US" baseline="-25000" dirty="0"/>
                  <a:t> </a:t>
                </a:r>
                <a:r>
                  <a:rPr lang="en-US" baseline="-25000" dirty="0" smtClean="0"/>
                  <a:t>slow</a:t>
                </a:r>
                <a:r>
                  <a:rPr lang="en-IN" dirty="0" smtClean="0">
                    <a:latin typeface="Calibri" panose="020F0502020204030204" pitchFamily="34" charset="0"/>
                  </a:rPr>
                  <a:t>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  <m:sup/>
                    </m:sSubSup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dirty="0"/>
                          <m:t>α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  <m:r>
                          <a:rPr lang="en-US" b="0" i="1" baseline="-2500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  <m:sup/>
                    </m:sSub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382" y="3822255"/>
                <a:ext cx="2981778" cy="348622"/>
              </a:xfrm>
              <a:prstGeom prst="rect">
                <a:avLst/>
              </a:prstGeom>
              <a:blipFill>
                <a:blip r:embed="rId9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561842" y="3173812"/>
                <a:ext cx="3008901" cy="577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 smtClean="0"/>
                  <a:t>0.5</a:t>
                </a:r>
                <a:r>
                  <a:rPr lang="en-IN" dirty="0" smtClean="0">
                    <a:latin typeface="Calibri" panose="020F0502020204030204" pitchFamily="34" charset="0"/>
                  </a:rPr>
                  <a:t>) (0.5)</a:t>
                </a:r>
                <a:r>
                  <a:rPr lang="en-IN" dirty="0" smtClean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(0.5)(0.2535)</m:t>
                        </m:r>
                      </m:e>
                      <m:sub/>
                      <m:sup/>
                    </m:sSubSup>
                  </m:oMath>
                </a14:m>
                <a:endParaRPr lang="en-US" dirty="0" smtClean="0"/>
              </a:p>
              <a:p>
                <a:r>
                  <a:rPr lang="en-US" dirty="0" smtClean="0"/>
                  <a:t>= ~0.38</a:t>
                </a:r>
                <a:endParaRPr lang="en-IN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42" y="3173812"/>
                <a:ext cx="3008901" cy="577209"/>
              </a:xfrm>
              <a:prstGeom prst="rect">
                <a:avLst/>
              </a:prstGeom>
              <a:blipFill>
                <a:blip r:embed="rId10"/>
                <a:stretch>
                  <a:fillRect l="-607" b="-10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532248" y="4071072"/>
                <a:ext cx="3032369" cy="5642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  <m:sup/>
                    </m:sSubSup>
                  </m:oMath>
                </a14:m>
                <a:r>
                  <a:rPr lang="en-IN" dirty="0">
                    <a:latin typeface="Calibri" panose="020F0502020204030204" pitchFamily="34" charset="0"/>
                  </a:rPr>
                  <a:t> = </a:t>
                </a:r>
                <a:r>
                  <a:rPr lang="en-IN" dirty="0" smtClean="0">
                    <a:latin typeface="Calibri" panose="020F0502020204030204" pitchFamily="34" charset="0"/>
                  </a:rPr>
                  <a:t>(1-</a:t>
                </a:r>
                <a:r>
                  <a:rPr lang="en-US" dirty="0" smtClean="0"/>
                  <a:t>0.1</a:t>
                </a:r>
                <a:r>
                  <a:rPr lang="en-IN" dirty="0" smtClean="0">
                    <a:latin typeface="Calibri" panose="020F0502020204030204" pitchFamily="34" charset="0"/>
                  </a:rPr>
                  <a:t>) (0.9)</a:t>
                </a:r>
                <a:r>
                  <a:rPr lang="en-IN" dirty="0" smtClean="0"/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(0.1)(0.2535)</m:t>
                        </m:r>
                      </m:e>
                      <m:sub/>
                      <m:sup/>
                    </m:sSubSup>
                  </m:oMath>
                </a14:m>
                <a:endParaRPr lang="en-US" dirty="0" smtClean="0"/>
              </a:p>
              <a:p>
                <a:r>
                  <a:rPr lang="en-US" dirty="0" smtClean="0"/>
                  <a:t>= ~0.84</a:t>
                </a:r>
                <a:endParaRPr lang="en-IN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248" y="4071072"/>
                <a:ext cx="3032369" cy="564257"/>
              </a:xfrm>
              <a:prstGeom prst="rect">
                <a:avLst/>
              </a:prstGeom>
              <a:blipFill>
                <a:blip r:embed="rId11"/>
                <a:stretch>
                  <a:fillRect l="-602" b="-10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48587" y="3822255"/>
                <a:ext cx="3041501" cy="1205523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 fontAlgn="b"/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𝐿𝑖𝑘𝑒𝑙𝑖h𝑜𝑜𝑑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b="0" i="1" smtClean="0">
                        <a:latin typeface="Cambria Math" panose="02040503050406030204" pitchFamily="18" charset="0"/>
                      </a:rPr>
                      <m:t>𝑅𝑎𝑡𝑖𝑜</m:t>
                    </m:r>
                  </m:oMath>
                </a14:m>
                <a:r>
                  <a:rPr lang="en-IN" sz="1100" b="1" dirty="0" smtClean="0"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𝟑𝟖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𝟖𝟒</m:t>
                        </m:r>
                      </m:den>
                    </m:f>
                  </m:oMath>
                </a14:m>
                <a:r>
                  <a:rPr lang="en-IN" sz="1100" b="1" dirty="0" smtClean="0">
                    <a:latin typeface="Calibri" panose="020F0502020204030204" pitchFamily="34" charset="0"/>
                  </a:rPr>
                  <a:t> = ~0.45</a:t>
                </a:r>
              </a:p>
              <a:p>
                <a:pPr algn="ctr" fontAlgn="b"/>
                <a:r>
                  <a:rPr lang="en-IN" sz="1100" b="1" dirty="0" smtClean="0">
                    <a:latin typeface="Calibri" panose="020F0502020204030204" pitchFamily="34" charset="0"/>
                  </a:rPr>
                  <a:t>MAX{0, (1-0.45)} = ~0.55</a:t>
                </a:r>
              </a:p>
              <a:p>
                <a:pPr algn="ctr" fontAlgn="b"/>
                <a:r>
                  <a:rPr lang="en-US" sz="1100" b="1" dirty="0" smtClean="0">
                    <a:latin typeface="Calibri" panose="020F0502020204030204" pitchFamily="34" charset="0"/>
                  </a:rPr>
                  <a:t>Hence for M=4 number of particle selection in next round with 0.6 probability (approx. to 60% only for this slide’s example), exploration proceeds and for rest exploitation is preferred</a:t>
                </a:r>
                <a:endParaRPr lang="en-IN" sz="1100" b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587" y="3822255"/>
                <a:ext cx="3041501" cy="1205523"/>
              </a:xfrm>
              <a:prstGeom prst="rect">
                <a:avLst/>
              </a:prstGeom>
              <a:blipFill>
                <a:blip r:embed="rId12"/>
                <a:stretch>
                  <a:fillRect b="-25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2120522" y="4606214"/>
            <a:ext cx="4016517" cy="40011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rgbClr val="7030A0"/>
                </a:solidFill>
              </a:rPr>
              <a:t>Resampling Effect</a:t>
            </a:r>
            <a:r>
              <a:rPr lang="en-US" sz="1000" dirty="0" smtClean="0">
                <a:solidFill>
                  <a:srgbClr val="C00000"/>
                </a:solidFill>
              </a:rPr>
              <a:t> : Approx. 40% of Particles are Informative. Retain them . Need randomization for other 60% of M particles!</a:t>
            </a:r>
            <a:endParaRPr lang="en-IN" sz="1000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41844" y="1368716"/>
            <a:ext cx="25420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One Naïve Estimation Model 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Average of Particles = (1.4,0.6,0)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94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5m, </a:t>
            </a:r>
            <a:r>
              <a:rPr lang="el-GR" dirty="0" smtClean="0"/>
              <a:t>Φ</a:t>
            </a:r>
            <a:r>
              <a:rPr lang="en-US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999875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5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05000" r="-436667" b="-4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12821" r="-436667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515385" r="-436667" b="-1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600000" r="-436667" b="-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/>
          <p:cNvSpPr txBox="1"/>
          <p:nvPr/>
        </p:nvSpPr>
        <p:spPr>
          <a:xfrm>
            <a:off x="4317325" y="1441423"/>
            <a:ext cx="25420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One Naïve Estimation Model :</a:t>
            </a:r>
          </a:p>
          <a:p>
            <a:r>
              <a:rPr lang="en-US" dirty="0">
                <a:solidFill>
                  <a:srgbClr val="C00000"/>
                </a:solidFill>
              </a:rPr>
              <a:t>Average of Particles = </a:t>
            </a:r>
            <a:r>
              <a:rPr lang="en-US" dirty="0" smtClean="0">
                <a:solidFill>
                  <a:srgbClr val="C00000"/>
                </a:solidFill>
              </a:rPr>
              <a:t>(2.75,1.5,0</a:t>
            </a:r>
            <a:r>
              <a:rPr lang="en-US" dirty="0">
                <a:solidFill>
                  <a:srgbClr val="C00000"/>
                </a:solidFill>
              </a:rPr>
              <a:t>) 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sp>
        <p:nvSpPr>
          <p:cNvPr id="21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     Idea 2: (Augmented)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11" y="452888"/>
            <a:ext cx="2170087" cy="17064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120522" y="4052625"/>
            <a:ext cx="3105851" cy="86177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rgbClr val="7030A0"/>
                </a:solidFill>
              </a:rPr>
              <a:t>Resampling Effect</a:t>
            </a:r>
            <a:r>
              <a:rPr lang="en-US" sz="1000" dirty="0" smtClean="0">
                <a:solidFill>
                  <a:srgbClr val="C00000"/>
                </a:solidFill>
              </a:rPr>
              <a:t> : Approx. 40% of Particles are Informative. Retain them . Resample 2 particles using roulette tech from existing pool (red colored)</a:t>
            </a:r>
          </a:p>
          <a:p>
            <a:r>
              <a:rPr lang="en-US" sz="1000" dirty="0" smtClean="0">
                <a:solidFill>
                  <a:srgbClr val="C00000"/>
                </a:solidFill>
              </a:rPr>
              <a:t>Need randomization for other 60% of M particles! </a:t>
            </a:r>
            <a:r>
              <a:rPr lang="en-US" sz="1000" dirty="0" err="1" smtClean="0">
                <a:solidFill>
                  <a:srgbClr val="C00000"/>
                </a:solidFill>
              </a:rPr>
              <a:t>Ie</a:t>
            </a:r>
            <a:r>
              <a:rPr lang="en-US" sz="1000" dirty="0" smtClean="0">
                <a:solidFill>
                  <a:srgbClr val="C00000"/>
                </a:solidFill>
              </a:rPr>
              <a:t>. </a:t>
            </a:r>
            <a:r>
              <a:rPr lang="en-US" sz="1000" dirty="0" err="1" smtClean="0">
                <a:solidFill>
                  <a:srgbClr val="C00000"/>
                </a:solidFill>
              </a:rPr>
              <a:t>Approx</a:t>
            </a:r>
            <a:r>
              <a:rPr lang="en-US" sz="1000" dirty="0" smtClean="0">
                <a:solidFill>
                  <a:srgbClr val="C00000"/>
                </a:solidFill>
              </a:rPr>
              <a:t> 2 particles(green colored)</a:t>
            </a:r>
            <a:endParaRPr lang="en-IN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7739757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(4,5,0)</a:t>
                          </a:r>
                          <a:endParaRPr lang="en-IN" sz="1100" b="1" i="0" u="none" strike="noStrike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(6,0,0)</a:t>
                          </a:r>
                          <a:endParaRPr lang="en-IN" sz="1100" b="1" i="0" u="none" strike="noStrike" dirty="0" smtClean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7739757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7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4,5,0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(6,0,0)</a:t>
                          </a:r>
                          <a:endParaRPr lang="en-IN" sz="1100" b="1" i="0" u="none" strike="noStrike" dirty="0" smtClean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7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urved Connector 2"/>
          <p:cNvCxnSpPr/>
          <p:nvPr/>
        </p:nvCxnSpPr>
        <p:spPr>
          <a:xfrm rot="16200000" flipV="1">
            <a:off x="3910258" y="3068711"/>
            <a:ext cx="2250756" cy="4319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45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311698" y="1143000"/>
            <a:ext cx="48410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M=4, 2D, 5X5, L(4.4), Move 1m east, Sensor noise 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5m, </a:t>
            </a:r>
            <a:r>
              <a:rPr lang="el-GR" dirty="0" smtClean="0"/>
              <a:t>Φ</a:t>
            </a:r>
            <a:r>
              <a:rPr lang="en-US" dirty="0" smtClean="0"/>
              <a:t> = 0.25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</a:t>
            </a:r>
          </a:p>
          <a:p>
            <a:pPr marL="342900" indent="-342900">
              <a:buAutoNum type="arabicPeriod"/>
            </a:pPr>
            <a:r>
              <a:rPr lang="en-US" strike="sngStrike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9998753"/>
                  </p:ext>
                </p:extLst>
              </p:nvPr>
            </p:nvGraphicFramePr>
            <p:xfrm>
              <a:off x="5251621" y="2159319"/>
              <a:ext cx="3892381" cy="1695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105000" r="-436667" b="-5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(2,2,0)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(3,1,0)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(1,3,0)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205000" r="-436667" b="-4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312821" r="-436667" b="-3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(3,2,0)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~4.95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2.24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456917203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515385" r="-436667" b="-1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0.995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0.018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0446259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833" t="-600000" r="-436667" b="-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0.9813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0.0178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IN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0.0005</a:t>
                          </a: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/>
          <p:cNvSpPr txBox="1"/>
          <p:nvPr/>
        </p:nvSpPr>
        <p:spPr>
          <a:xfrm>
            <a:off x="4317325" y="1441423"/>
            <a:ext cx="25420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One Naïve Estimation Model :</a:t>
            </a:r>
          </a:p>
          <a:p>
            <a:r>
              <a:rPr lang="en-US" dirty="0">
                <a:solidFill>
                  <a:srgbClr val="C00000"/>
                </a:solidFill>
              </a:rPr>
              <a:t>Average of Particles = </a:t>
            </a:r>
            <a:r>
              <a:rPr lang="en-US" dirty="0" smtClean="0">
                <a:solidFill>
                  <a:srgbClr val="C00000"/>
                </a:solidFill>
              </a:rPr>
              <a:t>(2.63,1.38,0</a:t>
            </a:r>
            <a:r>
              <a:rPr lang="en-US" dirty="0">
                <a:solidFill>
                  <a:srgbClr val="C00000"/>
                </a:solidFill>
              </a:rPr>
              <a:t>) 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38" y="2687023"/>
            <a:ext cx="1611269" cy="2340234"/>
          </a:xfrm>
          <a:prstGeom prst="rect">
            <a:avLst/>
          </a:prstGeom>
        </p:spPr>
      </p:pic>
      <p:sp>
        <p:nvSpPr>
          <p:cNvPr id="21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                         Idea 3: </a:t>
            </a:r>
            <a:r>
              <a:rPr lang="en" sz="2200" dirty="0" smtClean="0">
                <a:solidFill>
                  <a:srgbClr val="0070C0"/>
                </a:solidFill>
              </a:rPr>
              <a:t>Mixture(Dual) MCL Algorithm</a:t>
            </a:r>
            <a:endParaRPr sz="2200" dirty="0">
              <a:solidFill>
                <a:srgbClr val="0070C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912" y="458680"/>
            <a:ext cx="2170087" cy="16335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11" y="452888"/>
            <a:ext cx="2170087" cy="17064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46917" y="3848279"/>
            <a:ext cx="3105851" cy="132343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rgbClr val="7030A0"/>
                </a:solidFill>
              </a:rPr>
              <a:t>Resampling Effect</a:t>
            </a:r>
            <a:r>
              <a:rPr lang="en-US" sz="1000" dirty="0" smtClean="0">
                <a:solidFill>
                  <a:srgbClr val="C00000"/>
                </a:solidFill>
              </a:rPr>
              <a:t> Sample 25% of next iteration particles from sensor model pool. Resample 1 particle using roulette wheel (if many particles like P1 are available) </a:t>
            </a:r>
            <a:r>
              <a:rPr lang="en-US" sz="1000" dirty="0" err="1" smtClean="0">
                <a:solidFill>
                  <a:srgbClr val="C00000"/>
                </a:solidFill>
              </a:rPr>
              <a:t>ie</a:t>
            </a:r>
            <a:r>
              <a:rPr lang="en-US" sz="1000" dirty="0" smtClean="0">
                <a:solidFill>
                  <a:srgbClr val="C00000"/>
                </a:solidFill>
              </a:rPr>
              <a:t>., P1 (red colored)</a:t>
            </a:r>
          </a:p>
          <a:p>
            <a:r>
              <a:rPr lang="en-US" sz="1000" dirty="0">
                <a:solidFill>
                  <a:srgbClr val="C00000"/>
                </a:solidFill>
              </a:rPr>
              <a:t>Sample </a:t>
            </a:r>
            <a:r>
              <a:rPr lang="en-US" sz="1000" dirty="0" smtClean="0">
                <a:solidFill>
                  <a:srgbClr val="C00000"/>
                </a:solidFill>
              </a:rPr>
              <a:t>75</a:t>
            </a:r>
            <a:r>
              <a:rPr lang="en-US" sz="1000" dirty="0">
                <a:solidFill>
                  <a:srgbClr val="C00000"/>
                </a:solidFill>
              </a:rPr>
              <a:t>% of next iteration particles from </a:t>
            </a:r>
            <a:r>
              <a:rPr lang="en-US" sz="1000" dirty="0" smtClean="0">
                <a:solidFill>
                  <a:srgbClr val="C00000"/>
                </a:solidFill>
              </a:rPr>
              <a:t>motion model </a:t>
            </a:r>
            <a:r>
              <a:rPr lang="en-US" sz="1000" dirty="0">
                <a:solidFill>
                  <a:srgbClr val="C00000"/>
                </a:solidFill>
              </a:rPr>
              <a:t>Resample </a:t>
            </a:r>
            <a:r>
              <a:rPr lang="en-US" sz="1000" dirty="0" smtClean="0">
                <a:solidFill>
                  <a:srgbClr val="C00000"/>
                </a:solidFill>
              </a:rPr>
              <a:t>3 particle using roulette wheel </a:t>
            </a:r>
            <a:r>
              <a:rPr lang="en-US" sz="1000" dirty="0" err="1">
                <a:solidFill>
                  <a:srgbClr val="C00000"/>
                </a:solidFill>
              </a:rPr>
              <a:t>ie</a:t>
            </a:r>
            <a:r>
              <a:rPr lang="en-US" sz="1000" dirty="0">
                <a:solidFill>
                  <a:srgbClr val="C00000"/>
                </a:solidFill>
              </a:rPr>
              <a:t>., </a:t>
            </a:r>
            <a:r>
              <a:rPr lang="en-US" sz="1000" dirty="0" smtClean="0">
                <a:solidFill>
                  <a:srgbClr val="C00000"/>
                </a:solidFill>
              </a:rPr>
              <a:t>P2,3,4 (green </a:t>
            </a:r>
            <a:r>
              <a:rPr lang="en-US" sz="1000" dirty="0">
                <a:solidFill>
                  <a:srgbClr val="C00000"/>
                </a:solidFill>
              </a:rPr>
              <a:t>colored</a:t>
            </a:r>
            <a:r>
              <a:rPr lang="en-US" sz="1000" dirty="0" smtClean="0">
                <a:solidFill>
                  <a:srgbClr val="C00000"/>
                </a:solidFill>
              </a:rPr>
              <a:t>) . Here old P3 is selected twice and old P4 is selected once.</a:t>
            </a:r>
            <a:endParaRPr lang="en-IN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763422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 smtClean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763422"/>
                  </p:ext>
                </p:extLst>
              </p:nvPr>
            </p:nvGraphicFramePr>
            <p:xfrm>
              <a:off x="5238996" y="4066653"/>
              <a:ext cx="3892381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  <a:gridCol w="822129">
                      <a:extLst>
                        <a:ext uri="{9D8B030D-6E8A-4147-A177-3AD203B41FA5}">
                          <a16:colId xmlns:a16="http://schemas.microsoft.com/office/drawing/2014/main" val="3678583593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P4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7"/>
                          <a:stretch>
                            <a:fillRect l="-833" t="-110256" r="-4366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(0.5,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0.5, 0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 smtClean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4,1,0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  <a:endParaRPr lang="en-IN" sz="1100" b="1" i="0" u="none" strike="noStrike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(4,1,0)</a:t>
                          </a:r>
                          <a:endParaRPr lang="en-IN" sz="1100" b="1" i="0" u="none" strike="noStrike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B05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(2,3,0)</a:t>
                          </a:r>
                          <a:endParaRPr lang="en-IN" sz="1100" b="1" i="0" u="none" strike="noStrike" dirty="0" smtClean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16166390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7"/>
                          <a:stretch>
                            <a:fillRect l="-833" t="-205000" r="-436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136707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4522" y="2092233"/>
            <a:ext cx="2932430" cy="1762578"/>
          </a:xfrm>
          <a:prstGeom prst="rect">
            <a:avLst/>
          </a:prstGeom>
        </p:spPr>
      </p:pic>
      <p:cxnSp>
        <p:nvCxnSpPr>
          <p:cNvPr id="32" name="Curved Connector 31"/>
          <p:cNvCxnSpPr/>
          <p:nvPr/>
        </p:nvCxnSpPr>
        <p:spPr>
          <a:xfrm rot="16200000" flipV="1">
            <a:off x="3910258" y="3068711"/>
            <a:ext cx="2250756" cy="4319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15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</a:t>
            </a:r>
            <a:r>
              <a:rPr lang="en" sz="2200" dirty="0" smtClean="0">
                <a:solidFill>
                  <a:srgbClr val="0070C0"/>
                </a:solidFill>
              </a:rPr>
              <a:t>Particle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31234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Initialize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Predict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Correct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>
                <a:solidFill>
                  <a:srgbClr val="00B050"/>
                </a:solidFill>
              </a:rPr>
              <a:t>Preprocess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435176" y="1142999"/>
            <a:ext cx="54864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Initialize M Particles P</a:t>
            </a:r>
            <a:r>
              <a:rPr lang="en-US" baseline="-25000" dirty="0" smtClean="0"/>
              <a:t>i</a:t>
            </a:r>
            <a:r>
              <a:rPr lang="en-US" dirty="0" smtClean="0"/>
              <a:t> with uniform belief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Move </a:t>
            </a:r>
            <a:r>
              <a:rPr lang="en-US" dirty="0"/>
              <a:t>each P</a:t>
            </a:r>
            <a:r>
              <a:rPr lang="en-US" baseline="-25000" dirty="0"/>
              <a:t>i</a:t>
            </a:r>
            <a:r>
              <a:rPr lang="en-US" dirty="0" smtClean="0"/>
              <a:t> based on robot motion model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Compare predicted sensor reading Z</a:t>
            </a:r>
            <a:r>
              <a:rPr lang="en-US" baseline="-25000" dirty="0" smtClean="0"/>
              <a:t> expected</a:t>
            </a:r>
            <a:r>
              <a:rPr lang="en-US" dirty="0" smtClean="0"/>
              <a:t> with actual sensor reading Z</a:t>
            </a:r>
            <a:r>
              <a:rPr lang="en-US" baseline="-25000" dirty="0" smtClean="0"/>
              <a:t> measured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solidFill>
                  <a:srgbClr val="00B050"/>
                </a:solidFill>
              </a:rPr>
              <a:t>Optionally filter out surprising measurements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Weigh each P</a:t>
            </a:r>
            <a:r>
              <a:rPr lang="en-US" baseline="-25000" dirty="0" smtClean="0"/>
              <a:t>i</a:t>
            </a:r>
            <a:r>
              <a:rPr lang="en-US" dirty="0"/>
              <a:t> </a:t>
            </a:r>
            <a:r>
              <a:rPr lang="en-US" dirty="0" smtClean="0"/>
              <a:t>based on importance weights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Resample for particle set for next iteration based on Darwinian approach augmented with short term vs long term likelihood ratio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Reset the belief of particles with equal likelihood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59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Initialize : M=3, 1D, 5X5, L(3 &amp; 6), Move 1m east, </a:t>
            </a:r>
            <a:r>
              <a:rPr lang="he-IL" b="1" dirty="0" smtClean="0"/>
              <a:t>ﬡ</a:t>
            </a:r>
            <a:r>
              <a:rPr lang="en-US" b="1" dirty="0" smtClean="0"/>
              <a:t>= 0.5, </a:t>
            </a:r>
            <a:r>
              <a:rPr lang="en-US" b="1" dirty="0"/>
              <a:t>Z</a:t>
            </a:r>
            <a:r>
              <a:rPr lang="en-US" b="1" baseline="-25000" dirty="0"/>
              <a:t> </a:t>
            </a:r>
            <a:r>
              <a:rPr lang="en-US" b="1" baseline="-25000" dirty="0" smtClean="0"/>
              <a:t>m</a:t>
            </a:r>
            <a:r>
              <a:rPr lang="en-US" b="1" dirty="0"/>
              <a:t> = </a:t>
            </a:r>
            <a:r>
              <a:rPr lang="en-US" b="1" dirty="0" smtClean="0"/>
              <a:t>0.5m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73748" y="2183360"/>
              <a:ext cx="3070252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8503045"/>
                  </p:ext>
                </p:extLst>
              </p:nvPr>
            </p:nvGraphicFramePr>
            <p:xfrm>
              <a:off x="6073748" y="2183360"/>
              <a:ext cx="3070252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10256" r="-3241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3241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186" y="417512"/>
            <a:ext cx="2162813" cy="176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M=3, 1D, 5X5, L(3 &amp; 6), Move 1m east, </a:t>
            </a:r>
            <a:r>
              <a:rPr lang="he-IL" dirty="0" smtClean="0"/>
              <a:t>ﬡ</a:t>
            </a:r>
            <a:r>
              <a:rPr lang="en-US" dirty="0" smtClean="0"/>
              <a:t>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0.5m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73748" y="2183360"/>
              <a:ext cx="3070252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5729302"/>
                  </p:ext>
                </p:extLst>
              </p:nvPr>
            </p:nvGraphicFramePr>
            <p:xfrm>
              <a:off x="6073748" y="2183360"/>
              <a:ext cx="3070252" cy="732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10256" r="-324167" b="-1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05000" r="-3241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186" y="417512"/>
            <a:ext cx="2162813" cy="1765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65500" y="3604359"/>
                <a:ext cx="2992038" cy="1224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 dirty="0" smtClean="0">
                    <a:latin typeface="Cambria Math" panose="02040503050406030204" pitchFamily="18" charset="0"/>
                  </a:rPr>
                  <a:t>(modified for simplicity)</a:t>
                </a:r>
                <a:endParaRPr lang="en-IN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IN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𝑣𝑐𝑜𝑠</m:t>
                            </m:r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eqArr>
                      </m:e>
                    </m:d>
                  </m:oMath>
                </a14:m>
                <a:endParaRPr lang="en-IN" dirty="0" smtClean="0"/>
              </a:p>
              <a:p>
                <a:endParaRPr lang="en-US" dirty="0"/>
              </a:p>
              <a:p>
                <a:r>
                  <a:rPr lang="en-US" dirty="0" smtClean="0"/>
                  <a:t>Linear Regression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 smtClean="0"/>
                  <a:t> +1</a:t>
                </a:r>
                <a:endParaRPr lang="en-IN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500" y="3604359"/>
                <a:ext cx="2992038" cy="1224566"/>
              </a:xfrm>
              <a:prstGeom prst="rect">
                <a:avLst/>
              </a:prstGeom>
              <a:blipFill>
                <a:blip r:embed="rId6"/>
                <a:stretch>
                  <a:fillRect l="-3666" t="-4975" r="-2648" b="-7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M=3, 1D, 5X5, L(3 &amp; 6), Move 1m east, </a:t>
            </a:r>
            <a:r>
              <a:rPr lang="he-IL" dirty="0" smtClean="0"/>
              <a:t>ﬡ</a:t>
            </a:r>
            <a:r>
              <a:rPr lang="en-US" dirty="0" smtClean="0"/>
              <a:t>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0.5m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73748" y="2183360"/>
              <a:ext cx="3070252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034560"/>
                  </p:ext>
                </p:extLst>
              </p:nvPr>
            </p:nvGraphicFramePr>
            <p:xfrm>
              <a:off x="6073748" y="2183360"/>
              <a:ext cx="3070252" cy="9734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324167" b="-2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210256" r="-324167" b="-12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186" y="417512"/>
            <a:ext cx="2162813" cy="17654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6649" y="4438381"/>
            <a:ext cx="4666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Used Manhattan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Restricted view measured w.r.t 2</a:t>
            </a:r>
            <a:r>
              <a:rPr lang="en-US" baseline="30000" dirty="0" smtClean="0">
                <a:solidFill>
                  <a:srgbClr val="0070C0"/>
                </a:solidFill>
              </a:rPr>
              <a:t>nd</a:t>
            </a:r>
            <a:r>
              <a:rPr lang="en-US" dirty="0" smtClean="0">
                <a:solidFill>
                  <a:srgbClr val="0070C0"/>
                </a:solidFill>
              </a:rPr>
              <a:t> landmark from P3</a:t>
            </a:r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648" y="3269584"/>
            <a:ext cx="3175027" cy="82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6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M=3, 1D, 5X5, L(3 &amp; 6), Move 1m east, </a:t>
            </a:r>
            <a:r>
              <a:rPr lang="he-IL" dirty="0" smtClean="0"/>
              <a:t>ﬡ</a:t>
            </a:r>
            <a:r>
              <a:rPr lang="en-US" dirty="0" smtClean="0"/>
              <a:t>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0.5m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3173197"/>
            <a:ext cx="2897145" cy="1850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73748" y="2183360"/>
              <a:ext cx="3070252" cy="1300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3272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May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be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37721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0936327"/>
                  </p:ext>
                </p:extLst>
              </p:nvPr>
            </p:nvGraphicFramePr>
            <p:xfrm>
              <a:off x="6073748" y="2183360"/>
              <a:ext cx="3070252" cy="1300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7980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72798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807146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05000" r="-324167" b="-35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32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833" t="-151852" r="-324167" b="-16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May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be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377216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186" y="417512"/>
            <a:ext cx="2162813" cy="176545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4386649" y="607814"/>
          <a:ext cx="2594536" cy="147618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20051">
                  <a:extLst>
                    <a:ext uri="{9D8B030D-6E8A-4147-A177-3AD203B41FA5}">
                      <a16:colId xmlns:a16="http://schemas.microsoft.com/office/drawing/2014/main" val="2111863059"/>
                    </a:ext>
                  </a:extLst>
                </a:gridCol>
                <a:gridCol w="601680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995869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576936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</a:tblGrid>
              <a:tr h="505457">
                <a:tc>
                  <a:txBody>
                    <a:bodyPr/>
                    <a:lstStyle/>
                    <a:p>
                      <a:pPr algn="ctr"/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Mixture</a:t>
                      </a:r>
                      <a:r>
                        <a:rPr lang="en-US" sz="900" baseline="0" dirty="0" smtClean="0"/>
                        <a:t> weights</a:t>
                      </a:r>
                    </a:p>
                    <a:p>
                      <a:pPr algn="ctr"/>
                      <a:r>
                        <a:rPr lang="en-US" sz="900" baseline="0" dirty="0" smtClean="0"/>
                        <a:t>P(C )</a:t>
                      </a:r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Measurement Likelihood</a:t>
                      </a:r>
                    </a:p>
                    <a:p>
                      <a:pPr algn="ctr"/>
                      <a:r>
                        <a:rPr lang="en-US" sz="900" dirty="0" smtClean="0"/>
                        <a:t>P(Z=0.5</a:t>
                      </a:r>
                      <a:r>
                        <a:rPr lang="en-US" sz="900" baseline="0" dirty="0" smtClean="0"/>
                        <a:t> | C) </a:t>
                      </a:r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Hit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= Z</a:t>
                      </a:r>
                      <a:r>
                        <a:rPr lang="en-US" sz="1000" baseline="-25000" dirty="0" smtClean="0"/>
                        <a:t> 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Short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0.95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&lt; Z</a:t>
                      </a:r>
                      <a:r>
                        <a:rPr lang="en-US" sz="1000" baseline="-25000" dirty="0" smtClean="0"/>
                        <a:t> e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01461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 smtClean="0">
                          <a:effectLst/>
                        </a:rPr>
                        <a:t>Max</a:t>
                      </a:r>
                      <a:endParaRPr lang="en-I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= Max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759794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 smtClean="0">
                          <a:effectLst/>
                        </a:rPr>
                        <a:t>Rand</a:t>
                      </a:r>
                      <a:endParaRPr lang="en-I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Others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77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08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M=3, 1D, 5X5, L(3 &amp; 6), Move 1m east, </a:t>
            </a:r>
            <a:r>
              <a:rPr lang="he-IL" dirty="0" smtClean="0"/>
              <a:t>ﬡ</a:t>
            </a:r>
            <a:r>
              <a:rPr lang="en-US" dirty="0" smtClean="0"/>
              <a:t>= 0.5, </a:t>
            </a:r>
            <a:r>
              <a:rPr lang="en-US" dirty="0"/>
              <a:t>Z</a:t>
            </a:r>
            <a:r>
              <a:rPr lang="en-US" baseline="-25000" dirty="0"/>
              <a:t> </a:t>
            </a:r>
            <a:r>
              <a:rPr lang="en-US" baseline="-25000" dirty="0" smtClean="0"/>
              <a:t>m</a:t>
            </a:r>
            <a:r>
              <a:rPr lang="en-US" dirty="0"/>
              <a:t> = </a:t>
            </a:r>
            <a:r>
              <a:rPr lang="en-US" dirty="0" smtClean="0"/>
              <a:t>0.5m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314949" y="2182971"/>
              <a:ext cx="3829052" cy="1541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856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86906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3272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May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be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377216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P(</a:t>
                          </a:r>
                          <a:r>
                            <a:rPr lang="en-US" sz="1100" b="0" i="0" u="none" strike="noStrike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</a:t>
                          </a:r>
                          <a:r>
                            <a:rPr lang="en-US" sz="1100" baseline="-25000" dirty="0" smtClean="0"/>
                            <a:t> short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|</a:t>
                          </a: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m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)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0.1*0.95*0.33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73449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0395661"/>
                  </p:ext>
                </p:extLst>
              </p:nvPr>
            </p:nvGraphicFramePr>
            <p:xfrm>
              <a:off x="5314949" y="2182971"/>
              <a:ext cx="3829052" cy="1541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856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86906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588" t="-105000" r="-272941" b="-4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32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588" t="-154717" r="-272941" b="-243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May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be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377216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P(</a:t>
                          </a:r>
                          <a:r>
                            <a:rPr lang="en-US" sz="1100" b="0" i="0" u="none" strike="noStrike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</a:t>
                          </a:r>
                          <a:r>
                            <a:rPr lang="en-US" sz="1100" baseline="-25000" dirty="0" smtClean="0"/>
                            <a:t> short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|</a:t>
                          </a: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m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)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0.1*0.95*0.33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734494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186" y="417512"/>
            <a:ext cx="2162813" cy="176545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4386649" y="607814"/>
          <a:ext cx="2594536" cy="147618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20051">
                  <a:extLst>
                    <a:ext uri="{9D8B030D-6E8A-4147-A177-3AD203B41FA5}">
                      <a16:colId xmlns:a16="http://schemas.microsoft.com/office/drawing/2014/main" val="2111863059"/>
                    </a:ext>
                  </a:extLst>
                </a:gridCol>
                <a:gridCol w="601680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995869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576936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</a:tblGrid>
              <a:tr h="505457">
                <a:tc>
                  <a:txBody>
                    <a:bodyPr/>
                    <a:lstStyle/>
                    <a:p>
                      <a:pPr algn="ctr"/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Mixture</a:t>
                      </a:r>
                      <a:r>
                        <a:rPr lang="en-US" sz="900" baseline="0" dirty="0" smtClean="0"/>
                        <a:t> weights</a:t>
                      </a:r>
                    </a:p>
                    <a:p>
                      <a:pPr algn="ctr"/>
                      <a:r>
                        <a:rPr lang="en-US" sz="900" baseline="0" dirty="0" smtClean="0"/>
                        <a:t>P(C )</a:t>
                      </a:r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Measurement Likelihood</a:t>
                      </a:r>
                    </a:p>
                    <a:p>
                      <a:pPr algn="ctr"/>
                      <a:r>
                        <a:rPr lang="en-US" sz="900" dirty="0" smtClean="0"/>
                        <a:t>P(Z=0.5</a:t>
                      </a:r>
                      <a:r>
                        <a:rPr lang="en-US" sz="900" baseline="0" dirty="0" smtClean="0"/>
                        <a:t> | C) </a:t>
                      </a:r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Hit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= Z</a:t>
                      </a:r>
                      <a:r>
                        <a:rPr lang="en-US" sz="1000" baseline="-25000" dirty="0" smtClean="0"/>
                        <a:t> 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Short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0.95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&lt; Z</a:t>
                      </a:r>
                      <a:r>
                        <a:rPr lang="en-US" sz="1000" baseline="-25000" dirty="0" smtClean="0"/>
                        <a:t> e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01461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 smtClean="0">
                          <a:effectLst/>
                        </a:rPr>
                        <a:t>Max</a:t>
                      </a:r>
                      <a:endParaRPr lang="en-I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= Max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759794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 smtClean="0">
                          <a:effectLst/>
                        </a:rPr>
                        <a:t>Rand</a:t>
                      </a:r>
                      <a:endParaRPr lang="en-I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Others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772169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280" y="4130574"/>
            <a:ext cx="3597555" cy="783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031095"/>
            <a:ext cx="3174168" cy="172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             </a:t>
            </a:r>
            <a:r>
              <a:rPr lang="en" sz="2200" dirty="0" smtClean="0">
                <a:solidFill>
                  <a:srgbClr val="0070C0"/>
                </a:solidFill>
              </a:rPr>
              <a:t>MCL Algorithm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40749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Initialize : M=3, 1D, 5X5, L(3 &amp; 6), Move 1m east, </a:t>
            </a:r>
            <a:r>
              <a:rPr lang="he-IL" dirty="0" smtClean="0"/>
              <a:t>ﬡ</a:t>
            </a:r>
            <a:r>
              <a:rPr lang="en-US" dirty="0" smtClean="0"/>
              <a:t>= 0.5, Z</a:t>
            </a:r>
            <a:r>
              <a:rPr lang="en-US" baseline="-25000" dirty="0" smtClean="0"/>
              <a:t> m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0.5m</a:t>
            </a:r>
          </a:p>
          <a:p>
            <a:pPr marL="342900" indent="-342900">
              <a:buAutoNum type="arabicPeriod"/>
            </a:pPr>
            <a:r>
              <a:rPr lang="en-US" dirty="0" smtClean="0"/>
              <a:t>Predict : Motion Update </a:t>
            </a:r>
          </a:p>
          <a:p>
            <a:pPr marL="342900" indent="-342900">
              <a:buAutoNum type="arabicPeriod"/>
            </a:pPr>
            <a:r>
              <a:rPr lang="en-US" dirty="0" smtClean="0"/>
              <a:t>Correct : Measurement Update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Preprocess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Weigh </a:t>
            </a:r>
          </a:p>
          <a:p>
            <a:pPr marL="342900" indent="-342900"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314949" y="2182971"/>
              <a:ext cx="3829052" cy="1541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856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86906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40672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3272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Bel(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1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1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May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be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377216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P(</a:t>
                          </a:r>
                          <a:r>
                            <a:rPr lang="en-US" sz="1100" b="0" i="0" u="none" strike="noStrike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</a:t>
                          </a:r>
                          <a:r>
                            <a:rPr lang="en-US" sz="1100" baseline="-25000" dirty="0" smtClean="0"/>
                            <a:t> short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|</a:t>
                          </a: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m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)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0.1*0.95*0.33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73449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0395661"/>
                  </p:ext>
                </p:extLst>
              </p:nvPr>
            </p:nvGraphicFramePr>
            <p:xfrm>
              <a:off x="5314949" y="2182971"/>
              <a:ext cx="3829052" cy="1541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856">
                      <a:extLst>
                        <a:ext uri="{9D8B030D-6E8A-4147-A177-3AD203B41FA5}">
                          <a16:colId xmlns:a16="http://schemas.microsoft.com/office/drawing/2014/main" val="2111863059"/>
                        </a:ext>
                      </a:extLst>
                    </a:gridCol>
                    <a:gridCol w="869060">
                      <a:extLst>
                        <a:ext uri="{9D8B030D-6E8A-4147-A177-3AD203B41FA5}">
                          <a16:colId xmlns:a16="http://schemas.microsoft.com/office/drawing/2014/main" val="930752337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3586557208"/>
                        </a:ext>
                      </a:extLst>
                    </a:gridCol>
                    <a:gridCol w="963568">
                      <a:extLst>
                        <a:ext uri="{9D8B030D-6E8A-4147-A177-3AD203B41FA5}">
                          <a16:colId xmlns:a16="http://schemas.microsoft.com/office/drawing/2014/main" val="1706683835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pPr algn="ctr"/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P1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P2</a:t>
                          </a:r>
                          <a:endParaRPr lang="en-IN" sz="105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50" dirty="0" smtClean="0"/>
                            <a:t>P3</a:t>
                          </a:r>
                          <a:endParaRPr lang="en-IN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8902058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588" t="-105000" r="-272941" b="-4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57536777"/>
                      </a:ext>
                    </a:extLst>
                  </a:tr>
                  <a:tr h="32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588" t="-154717" r="-272941" b="-243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1/3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787901461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IN" sz="1100" b="1" i="0" u="none" strike="noStrike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874759794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May</a:t>
                          </a:r>
                          <a:r>
                            <a:rPr lang="en-US" sz="1100" b="1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be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1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Short</a:t>
                          </a:r>
                          <a:endParaRPr lang="en-IN" sz="11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3772169"/>
                      </a:ext>
                    </a:extLst>
                  </a:tr>
                  <a:tr h="2406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P(</a:t>
                          </a:r>
                          <a:r>
                            <a:rPr lang="en-US" sz="1100" b="0" i="0" u="none" strike="noStrike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</a:t>
                          </a:r>
                          <a:r>
                            <a:rPr lang="en-US" sz="1100" baseline="-25000" dirty="0" smtClean="0"/>
                            <a:t> short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|</a:t>
                          </a:r>
                          <a:r>
                            <a:rPr lang="en-US" sz="1100" dirty="0" smtClean="0"/>
                            <a:t>Z</a:t>
                          </a:r>
                          <a:r>
                            <a:rPr lang="en-US" sz="1100" baseline="-25000" dirty="0" smtClean="0"/>
                            <a:t> m</a:t>
                          </a:r>
                          <a:r>
                            <a:rPr lang="en-US" sz="1100" b="1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)</a:t>
                          </a:r>
                          <a:endParaRPr lang="en-IN" sz="1100" b="1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0.1*0.95*0.33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1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~0.0314</a:t>
                          </a:r>
                          <a:endParaRPr lang="en-IN" sz="11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58734494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186" y="417512"/>
            <a:ext cx="2162813" cy="176545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4386649" y="607814"/>
          <a:ext cx="2594536" cy="147618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20051">
                  <a:extLst>
                    <a:ext uri="{9D8B030D-6E8A-4147-A177-3AD203B41FA5}">
                      <a16:colId xmlns:a16="http://schemas.microsoft.com/office/drawing/2014/main" val="2111863059"/>
                    </a:ext>
                  </a:extLst>
                </a:gridCol>
                <a:gridCol w="601680">
                  <a:extLst>
                    <a:ext uri="{9D8B030D-6E8A-4147-A177-3AD203B41FA5}">
                      <a16:colId xmlns:a16="http://schemas.microsoft.com/office/drawing/2014/main" val="930752337"/>
                    </a:ext>
                  </a:extLst>
                </a:gridCol>
                <a:gridCol w="995869">
                  <a:extLst>
                    <a:ext uri="{9D8B030D-6E8A-4147-A177-3AD203B41FA5}">
                      <a16:colId xmlns:a16="http://schemas.microsoft.com/office/drawing/2014/main" val="3586557208"/>
                    </a:ext>
                  </a:extLst>
                </a:gridCol>
                <a:gridCol w="576936">
                  <a:extLst>
                    <a:ext uri="{9D8B030D-6E8A-4147-A177-3AD203B41FA5}">
                      <a16:colId xmlns:a16="http://schemas.microsoft.com/office/drawing/2014/main" val="1706683835"/>
                    </a:ext>
                  </a:extLst>
                </a:gridCol>
              </a:tblGrid>
              <a:tr h="505457">
                <a:tc>
                  <a:txBody>
                    <a:bodyPr/>
                    <a:lstStyle/>
                    <a:p>
                      <a:pPr algn="ctr"/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Mixture</a:t>
                      </a:r>
                      <a:r>
                        <a:rPr lang="en-US" sz="900" baseline="0" dirty="0" smtClean="0"/>
                        <a:t> weights</a:t>
                      </a:r>
                    </a:p>
                    <a:p>
                      <a:pPr algn="ctr"/>
                      <a:r>
                        <a:rPr lang="en-US" sz="900" baseline="0" dirty="0" smtClean="0"/>
                        <a:t>P(C )</a:t>
                      </a:r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Measurement Likelihood</a:t>
                      </a:r>
                    </a:p>
                    <a:p>
                      <a:pPr algn="ctr"/>
                      <a:r>
                        <a:rPr lang="en-US" sz="900" dirty="0" smtClean="0"/>
                        <a:t>P(Z=0.5</a:t>
                      </a:r>
                      <a:r>
                        <a:rPr lang="en-US" sz="900" baseline="0" dirty="0" smtClean="0"/>
                        <a:t> | C) </a:t>
                      </a:r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902058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Hit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0.8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= Z</a:t>
                      </a:r>
                      <a:r>
                        <a:rPr lang="en-US" sz="1000" baseline="-25000" dirty="0" smtClean="0"/>
                        <a:t> 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36777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Short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0.95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&lt; Z</a:t>
                      </a:r>
                      <a:r>
                        <a:rPr lang="en-US" sz="1000" baseline="-25000" dirty="0" smtClean="0"/>
                        <a:t> e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01461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 smtClean="0">
                          <a:effectLst/>
                        </a:rPr>
                        <a:t>Max</a:t>
                      </a:r>
                      <a:endParaRPr lang="en-I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Z</a:t>
                      </a:r>
                      <a:r>
                        <a:rPr lang="en-US" sz="1000" baseline="-25000" dirty="0" smtClean="0"/>
                        <a:t> m</a:t>
                      </a:r>
                      <a:r>
                        <a:rPr lang="en-US" sz="1000" dirty="0" smtClean="0"/>
                        <a:t> = Max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759794"/>
                  </a:ext>
                </a:extLst>
              </a:tr>
              <a:tr h="20902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u="none" strike="noStrike" dirty="0" smtClean="0">
                          <a:effectLst/>
                        </a:rPr>
                        <a:t>Rand</a:t>
                      </a:r>
                      <a:endParaRPr lang="en-I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0.05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effectLst/>
                        </a:rPr>
                        <a:t>0.2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smtClean="0"/>
                        <a:t>Others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772169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280" y="4130574"/>
            <a:ext cx="3597555" cy="78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15641" y="2261147"/>
            <a:ext cx="24088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C00000"/>
                </a:solidFill>
              </a:rPr>
              <a:t>p  = ~0.09</a:t>
            </a:r>
          </a:p>
          <a:p>
            <a:r>
              <a:rPr lang="en-US" sz="1200" dirty="0" smtClean="0">
                <a:solidFill>
                  <a:srgbClr val="C00000"/>
                </a:solidFill>
              </a:rPr>
              <a:t>q  = Denominator = ~0.11</a:t>
            </a:r>
          </a:p>
          <a:p>
            <a:r>
              <a:rPr lang="en-US" sz="1200" dirty="0" smtClean="0">
                <a:solidFill>
                  <a:srgbClr val="C00000"/>
                </a:solidFill>
              </a:rPr>
              <a:t>p/q = ~0.84</a:t>
            </a:r>
          </a:p>
          <a:p>
            <a:r>
              <a:rPr lang="en-US" sz="1200" dirty="0" smtClean="0">
                <a:solidFill>
                  <a:srgbClr val="C00000"/>
                </a:solidFill>
              </a:rPr>
              <a:t>p/q &gt; </a:t>
            </a:r>
            <a:r>
              <a:rPr lang="he-IL" sz="1200" dirty="0" smtClean="0"/>
              <a:t>ﬡ</a:t>
            </a:r>
            <a:endParaRPr lang="en-US" sz="1200" dirty="0" smtClean="0"/>
          </a:p>
          <a:p>
            <a:r>
              <a:rPr lang="en-US" sz="1200" b="1" dirty="0" smtClean="0">
                <a:solidFill>
                  <a:schemeClr val="tx1"/>
                </a:solidFill>
              </a:rPr>
              <a:t>Inference</a:t>
            </a:r>
            <a:r>
              <a:rPr lang="en-US" sz="1200" dirty="0" smtClean="0">
                <a:solidFill>
                  <a:schemeClr val="tx1"/>
                </a:solidFill>
              </a:rPr>
              <a:t> :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schemeClr val="tx1"/>
                </a:solidFill>
              </a:rPr>
              <a:t>Reject the </a:t>
            </a:r>
            <a:r>
              <a:rPr lang="en-US" sz="1200" dirty="0">
                <a:solidFill>
                  <a:schemeClr val="tx1"/>
                </a:solidFill>
              </a:rPr>
              <a:t>Z</a:t>
            </a:r>
            <a:r>
              <a:rPr lang="en-US" sz="1200" baseline="-25000" dirty="0">
                <a:solidFill>
                  <a:schemeClr val="tx1"/>
                </a:solidFill>
              </a:rPr>
              <a:t> </a:t>
            </a:r>
            <a:r>
              <a:rPr lang="en-US" sz="1200" baseline="-25000" dirty="0" smtClean="0">
                <a:solidFill>
                  <a:schemeClr val="tx1"/>
                </a:solidFill>
              </a:rPr>
              <a:t>m . </a:t>
            </a:r>
            <a:r>
              <a:rPr lang="en-US" sz="1200" dirty="0" smtClean="0">
                <a:solidFill>
                  <a:schemeClr val="tx1"/>
                </a:solidFill>
              </a:rPr>
              <a:t>Z. Stop this </a:t>
            </a:r>
            <a:r>
              <a:rPr lang="en-US" sz="1200" dirty="0">
                <a:solidFill>
                  <a:schemeClr val="tx1"/>
                </a:solidFill>
              </a:rPr>
              <a:t>iteration. No resampling </a:t>
            </a:r>
            <a:r>
              <a:rPr lang="en-US" sz="1200" baseline="-25000" dirty="0" smtClean="0">
                <a:solidFill>
                  <a:schemeClr val="tx1"/>
                </a:solidFill>
              </a:rPr>
              <a:t>.</a:t>
            </a:r>
            <a:endParaRPr lang="en-US" sz="1200" dirty="0" smtClean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smtClean="0">
                <a:solidFill>
                  <a:schemeClr val="tx1"/>
                </a:solidFill>
              </a:rPr>
              <a:t> Use the same particles again to begin next iteration.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045977"/>
            <a:ext cx="3174168" cy="172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8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6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1311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C00000"/>
                </a:solidFill>
              </a:rPr>
              <a:t>Monte Carlo Based Localization </a:t>
            </a:r>
            <a:r>
              <a:rPr lang="en" sz="2400" dirty="0">
                <a:solidFill>
                  <a:srgbClr val="00B0F0"/>
                </a:solidFill>
              </a:rPr>
              <a:t/>
            </a:r>
            <a:br>
              <a:rPr lang="en" sz="2400" dirty="0">
                <a:solidFill>
                  <a:srgbClr val="00B0F0"/>
                </a:solidFill>
              </a:rPr>
            </a:br>
            <a:r>
              <a:rPr lang="en" sz="2400" dirty="0" smtClean="0">
                <a:solidFill>
                  <a:srgbClr val="00B0F0"/>
                </a:solidFill>
              </a:rPr>
              <a:t>				</a:t>
            </a:r>
            <a:r>
              <a:rPr lang="en" sz="2200" dirty="0" smtClean="0">
                <a:solidFill>
                  <a:srgbClr val="0070C0"/>
                </a:solidFill>
              </a:rPr>
              <a:t>Particle Filter Approach</a:t>
            </a:r>
            <a:endParaRPr sz="2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698" y="1143000"/>
            <a:ext cx="31234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Initialize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Predict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Correct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>
                <a:solidFill>
                  <a:srgbClr val="00B050"/>
                </a:solidFill>
              </a:rPr>
              <a:t>Preprocess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Weigh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Resample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Repeat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435176" y="1142999"/>
            <a:ext cx="54864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Initialize M Particles P</a:t>
            </a:r>
            <a:r>
              <a:rPr lang="en-US" baseline="-25000" dirty="0" smtClean="0"/>
              <a:t>i</a:t>
            </a:r>
            <a:r>
              <a:rPr lang="en-US" dirty="0" smtClean="0"/>
              <a:t> with uniform belief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Move </a:t>
            </a:r>
            <a:r>
              <a:rPr lang="en-US" dirty="0"/>
              <a:t>each P</a:t>
            </a:r>
            <a:r>
              <a:rPr lang="en-US" baseline="-25000" dirty="0"/>
              <a:t>i</a:t>
            </a:r>
            <a:r>
              <a:rPr lang="en-US" dirty="0" smtClean="0"/>
              <a:t> based on robot motion model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Compare predicted sensor reading Z</a:t>
            </a:r>
            <a:r>
              <a:rPr lang="en-US" baseline="-25000" dirty="0" smtClean="0"/>
              <a:t> expected</a:t>
            </a:r>
            <a:r>
              <a:rPr lang="en-US" dirty="0" smtClean="0"/>
              <a:t> with actual sensor reading Z</a:t>
            </a:r>
            <a:r>
              <a:rPr lang="en-US" baseline="-25000" dirty="0" smtClean="0"/>
              <a:t> measured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>
                <a:solidFill>
                  <a:srgbClr val="00B050"/>
                </a:solidFill>
              </a:rPr>
              <a:t>Optionally filter out surprising measurements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Weigh each P</a:t>
            </a:r>
            <a:r>
              <a:rPr lang="en-US" baseline="-25000" dirty="0" smtClean="0"/>
              <a:t>i</a:t>
            </a:r>
            <a:r>
              <a:rPr lang="en-US" dirty="0"/>
              <a:t> </a:t>
            </a:r>
            <a:r>
              <a:rPr lang="en-US" dirty="0" smtClean="0"/>
              <a:t>based on importance weights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Resample for particle set for next iteration based on Darwinian approach augmented with short term vs long term likelihood ratio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smtClean="0"/>
              <a:t>Reset the belief of particles with equal likelihood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459335" y="4466986"/>
            <a:ext cx="837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CAN BE APPLIED TO GRID BASED LOCALIZATION AS WELL WITH CAREFUL CUSTOMIZATION</a:t>
            </a:r>
            <a:endParaRPr lang="en-IN" b="1" dirty="0"/>
          </a:p>
        </p:txBody>
      </p:sp>
      <p:cxnSp>
        <p:nvCxnSpPr>
          <p:cNvPr id="4" name="Curved Connector 3"/>
          <p:cNvCxnSpPr>
            <a:stCxn id="9" idx="1"/>
            <a:endCxn id="2" idx="1"/>
          </p:cNvCxnSpPr>
          <p:nvPr/>
        </p:nvCxnSpPr>
        <p:spPr>
          <a:xfrm rot="10800000" flipH="1" flipV="1">
            <a:off x="311697" y="2697271"/>
            <a:ext cx="147637" cy="1923603"/>
          </a:xfrm>
          <a:prstGeom prst="curvedConnector3">
            <a:avLst>
              <a:gd name="adj1" fmla="val -154839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05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>
            <a:spLocks noGrp="1"/>
          </p:cNvSpPr>
          <p:nvPr>
            <p:ph type="title"/>
          </p:nvPr>
        </p:nvSpPr>
        <p:spPr>
          <a:xfrm>
            <a:off x="226208" y="584402"/>
            <a:ext cx="8520600" cy="28293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/>
              <a:t>Required Reading</a:t>
            </a:r>
            <a:endParaRPr sz="2000" b="1" dirty="0"/>
          </a:p>
          <a:p>
            <a:pPr marL="365760" lvl="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 smtClean="0"/>
              <a:t>T1 Chapter </a:t>
            </a:r>
            <a:r>
              <a:rPr lang="en-US" sz="2000" dirty="0"/>
              <a:t>4.2: 4.2.1, 4.2.2,  4.2.4, </a:t>
            </a:r>
            <a:r>
              <a:rPr lang="en-US" sz="2000" dirty="0" smtClean="0"/>
              <a:t>8.3</a:t>
            </a:r>
            <a:r>
              <a:rPr lang="en-US" sz="2000" dirty="0"/>
              <a:t>: 8.31, 8.3.2, </a:t>
            </a:r>
            <a:r>
              <a:rPr lang="en-US" sz="2000" dirty="0" smtClean="0"/>
              <a:t>8.3.3, 8.3.4, </a:t>
            </a:r>
            <a:r>
              <a:rPr lang="en-US" sz="2000" dirty="0"/>
              <a:t>8.4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sz="2000" dirty="0"/>
          </a:p>
        </p:txBody>
      </p:sp>
      <p:sp>
        <p:nvSpPr>
          <p:cNvPr id="365" name="Google Shape;36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4" name="Google Shape;364;p57"/>
          <p:cNvSpPr txBox="1">
            <a:spLocks/>
          </p:cNvSpPr>
          <p:nvPr/>
        </p:nvSpPr>
        <p:spPr>
          <a:xfrm>
            <a:off x="226208" y="2623811"/>
            <a:ext cx="8520600" cy="149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lnSpc>
                <a:spcPct val="200000"/>
              </a:lnSpc>
            </a:pPr>
            <a:r>
              <a:rPr lang="en-US" sz="2000" b="1" dirty="0" smtClean="0"/>
              <a:t>Next Class Plan </a:t>
            </a:r>
            <a:r>
              <a:rPr lang="en-US" sz="2000" b="1" smtClean="0"/>
              <a:t>: </a:t>
            </a:r>
            <a:endParaRPr lang="en-US" sz="2000" b="1" dirty="0" smtClean="0"/>
          </a:p>
          <a:p>
            <a:pPr marL="365760" indent="-342900" algn="r">
              <a:lnSpc>
                <a:spcPct val="20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2000" dirty="0" smtClean="0"/>
              <a:t>Mapping</a:t>
            </a:r>
          </a:p>
          <a:p>
            <a:pPr marL="365760" indent="-342900" algn="r">
              <a:lnSpc>
                <a:spcPct val="20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2000" dirty="0" smtClean="0"/>
              <a:t>Occupancy Grid Mapping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834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16123</TotalTime>
  <Words>5741</Words>
  <Application>Microsoft Office PowerPoint</Application>
  <PresentationFormat>On-screen Show (16:9)</PresentationFormat>
  <Paragraphs>1351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 Math</vt:lpstr>
      <vt:lpstr>Wingdings</vt:lpstr>
      <vt:lpstr>Simple Light</vt:lpstr>
      <vt:lpstr>AIML for Robotics</vt:lpstr>
      <vt:lpstr>The course owner and the authors of this course deck, Prof. Raja vadhana and Dr.Sangeetha, are gratefully acknowledging all authors who made their course materials freely available online.</vt:lpstr>
      <vt:lpstr>Course Content</vt:lpstr>
      <vt:lpstr>Monte Carlo Based Localization      Particle Filter Approach</vt:lpstr>
      <vt:lpstr>Monte Carlo Based Localization      Particle Filter Approach</vt:lpstr>
      <vt:lpstr>Monte Carlo Based Localization      Particle Filter Approach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PowerPoint Presentation</vt:lpstr>
      <vt:lpstr>Monte Carlo Based Localization                   MCL Algorithm</vt:lpstr>
      <vt:lpstr>Monte Carlo Based Localization      Particle Filter Approach</vt:lpstr>
      <vt:lpstr>Monte Carlo Based Localization              Augmented MCL Algorithm</vt:lpstr>
      <vt:lpstr>Monte Carlo Based Localization              Augmented MCL Algorithm</vt:lpstr>
      <vt:lpstr>Monte Carlo Based Localization              Augmented MCL Algorithm</vt:lpstr>
      <vt:lpstr>Monte Carlo Based Localization              Augmented MCL Algorithm</vt:lpstr>
      <vt:lpstr>Monte Carlo Based Localization              Augmented MCL Algorithm</vt:lpstr>
      <vt:lpstr>Monte Carlo Based Localization              Augmented MCL Algorithm</vt:lpstr>
      <vt:lpstr>Monte Carlo Based Localization              Augmented MCL Algorithm</vt:lpstr>
      <vt:lpstr>Monte Carlo Based Localization      Particle Filter Approach</vt:lpstr>
      <vt:lpstr>Monte Carlo Based Localization            Mixture(Dual) MCL Algorithm</vt:lpstr>
      <vt:lpstr>Monte Carlo Based Localization            Mixture(Dual) MCL Algorithm</vt:lpstr>
      <vt:lpstr>Monte Carlo Based Localization            Mixture(Dual) MCL Algorithm</vt:lpstr>
      <vt:lpstr>Monte Carlo Based Localization            Mixture(Dual) MCL Algorithm</vt:lpstr>
      <vt:lpstr>Monte Carlo Based Localization            Mixture(Dual) MCL Algorithm</vt:lpstr>
      <vt:lpstr>Monte Carlo Based Localization            Mixture(Dual) MCL Algorithm</vt:lpstr>
      <vt:lpstr>Monte Carlo Based Localization       Idea 2: (Augmented)Mixture(Dual) MCL Algorithm</vt:lpstr>
      <vt:lpstr>Monte Carlo Based Localization       Idea 2: (Augmented)Mixture(Dual) MCL Algorithm</vt:lpstr>
      <vt:lpstr>Monte Carlo Based Localization                           Idea 3: Mixture(Dual) MCL Algorithm</vt:lpstr>
      <vt:lpstr>Monte Carlo Based Localization      Particle Filter Approach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Monte Carlo Based Localization                   MCL Algorithm</vt:lpstr>
      <vt:lpstr>Monte Carlo Based Localization      Particle Filter Approach</vt:lpstr>
      <vt:lpstr>Required Reading T1 Chapter 4.2: 4.2.1, 4.2.2,  4.2.4, 8.3: 8.31, 8.3.2, 8.3.3, 8.3.4, 8.4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Neural Network</dc:title>
  <dc:creator>BITS</dc:creator>
  <cp:lastModifiedBy>BITS</cp:lastModifiedBy>
  <cp:revision>195</cp:revision>
  <dcterms:modified xsi:type="dcterms:W3CDTF">2026-02-04T08:04:12Z</dcterms:modified>
</cp:coreProperties>
</file>