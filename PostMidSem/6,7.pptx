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57"/>
  </p:notesMasterIdLst>
  <p:sldIdLst>
    <p:sldId id="256" r:id="rId2"/>
    <p:sldId id="257" r:id="rId3"/>
    <p:sldId id="259" r:id="rId4"/>
    <p:sldId id="541" r:id="rId5"/>
    <p:sldId id="542" r:id="rId6"/>
    <p:sldId id="505" r:id="rId7"/>
    <p:sldId id="508" r:id="rId8"/>
    <p:sldId id="543" r:id="rId9"/>
    <p:sldId id="544" r:id="rId10"/>
    <p:sldId id="506" r:id="rId11"/>
    <p:sldId id="509" r:id="rId12"/>
    <p:sldId id="511" r:id="rId13"/>
    <p:sldId id="512" r:id="rId14"/>
    <p:sldId id="513" r:id="rId15"/>
    <p:sldId id="514" r:id="rId16"/>
    <p:sldId id="515" r:id="rId17"/>
    <p:sldId id="556" r:id="rId18"/>
    <p:sldId id="492" r:id="rId19"/>
    <p:sldId id="545" r:id="rId20"/>
    <p:sldId id="546" r:id="rId21"/>
    <p:sldId id="547" r:id="rId22"/>
    <p:sldId id="548" r:id="rId23"/>
    <p:sldId id="493" r:id="rId24"/>
    <p:sldId id="549" r:id="rId25"/>
    <p:sldId id="550" r:id="rId26"/>
    <p:sldId id="551" r:id="rId27"/>
    <p:sldId id="552" r:id="rId28"/>
    <p:sldId id="553" r:id="rId29"/>
    <p:sldId id="554" r:id="rId30"/>
    <p:sldId id="516" r:id="rId31"/>
    <p:sldId id="521" r:id="rId32"/>
    <p:sldId id="517" r:id="rId33"/>
    <p:sldId id="519" r:id="rId34"/>
    <p:sldId id="523" r:id="rId35"/>
    <p:sldId id="529" r:id="rId36"/>
    <p:sldId id="530" r:id="rId37"/>
    <p:sldId id="532" r:id="rId38"/>
    <p:sldId id="531" r:id="rId39"/>
    <p:sldId id="557" r:id="rId40"/>
    <p:sldId id="558" r:id="rId41"/>
    <p:sldId id="533" r:id="rId42"/>
    <p:sldId id="518" r:id="rId43"/>
    <p:sldId id="520" r:id="rId44"/>
    <p:sldId id="527" r:id="rId45"/>
    <p:sldId id="496" r:id="rId46"/>
    <p:sldId id="526" r:id="rId47"/>
    <p:sldId id="524" r:id="rId48"/>
    <p:sldId id="535" r:id="rId49"/>
    <p:sldId id="536" r:id="rId50"/>
    <p:sldId id="537" r:id="rId51"/>
    <p:sldId id="525" r:id="rId52"/>
    <p:sldId id="539" r:id="rId53"/>
    <p:sldId id="540" r:id="rId54"/>
    <p:sldId id="555" r:id="rId55"/>
    <p:sldId id="300" r:id="rId5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8" autoAdjust="0"/>
    <p:restoredTop sz="94208" autoAdjust="0"/>
  </p:normalViewPr>
  <p:slideViewPr>
    <p:cSldViewPr snapToGrid="0">
      <p:cViewPr varScale="1">
        <p:scale>
          <a:sx n="80" d="100"/>
          <a:sy n="80" d="100"/>
        </p:scale>
        <p:origin x="85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45C05-AF89-426B-A820-37169FAE3858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659D85-6265-443A-BA04-2446330BCC69}">
      <dgm:prSet phldrT="[Text]"/>
      <dgm:spPr/>
      <dgm:t>
        <a:bodyPr/>
        <a:lstStyle/>
        <a:p>
          <a:r>
            <a:rPr lang="en-US" dirty="0"/>
            <a:t>Problem Types</a:t>
          </a:r>
        </a:p>
      </dgm:t>
    </dgm:pt>
    <dgm:pt modelId="{29A660DA-E3DC-4108-A39A-3701F977ECA3}" type="parTrans" cxnId="{BCF97DD1-BBCA-4B69-9DAB-887012624638}">
      <dgm:prSet/>
      <dgm:spPr/>
      <dgm:t>
        <a:bodyPr/>
        <a:lstStyle/>
        <a:p>
          <a:endParaRPr lang="en-US"/>
        </a:p>
      </dgm:t>
    </dgm:pt>
    <dgm:pt modelId="{4217E665-2798-4D75-82D8-5F619418B5B3}" type="sibTrans" cxnId="{BCF97DD1-BBCA-4B69-9DAB-887012624638}">
      <dgm:prSet/>
      <dgm:spPr/>
      <dgm:t>
        <a:bodyPr/>
        <a:lstStyle/>
        <a:p>
          <a:endParaRPr lang="en-US"/>
        </a:p>
      </dgm:t>
    </dgm:pt>
    <dgm:pt modelId="{B5BB9CD2-484A-40AD-87CB-CE5309C75E1E}">
      <dgm:prSet phldrT="[Text]"/>
      <dgm:spPr/>
      <dgm:t>
        <a:bodyPr/>
        <a:lstStyle/>
        <a:p>
          <a:r>
            <a:rPr lang="en-US" dirty="0"/>
            <a:t>Static vs Dynamic</a:t>
          </a:r>
        </a:p>
      </dgm:t>
    </dgm:pt>
    <dgm:pt modelId="{9339E2D3-8A78-405E-8388-FFC05ED21978}" type="parTrans" cxnId="{4F4DDA38-33A4-4F5E-9928-6453267164EB}">
      <dgm:prSet/>
      <dgm:spPr/>
      <dgm:t>
        <a:bodyPr/>
        <a:lstStyle/>
        <a:p>
          <a:endParaRPr lang="en-US"/>
        </a:p>
      </dgm:t>
    </dgm:pt>
    <dgm:pt modelId="{1C148752-7D82-46DF-BCED-D854BA4E95A7}" type="sibTrans" cxnId="{4F4DDA38-33A4-4F5E-9928-6453267164EB}">
      <dgm:prSet/>
      <dgm:spPr/>
      <dgm:t>
        <a:bodyPr/>
        <a:lstStyle/>
        <a:p>
          <a:r>
            <a:rPr lang="en-US" dirty="0"/>
            <a:t>Environment</a:t>
          </a:r>
        </a:p>
      </dgm:t>
    </dgm:pt>
    <dgm:pt modelId="{F87143C3-76B8-4779-B797-6A1AC3E2F9C8}">
      <dgm:prSet phldrT="[Text]"/>
      <dgm:spPr/>
      <dgm:t>
        <a:bodyPr/>
        <a:lstStyle/>
        <a:p>
          <a:r>
            <a:rPr lang="en-US" dirty="0"/>
            <a:t>Single vs  multiple</a:t>
          </a:r>
        </a:p>
      </dgm:t>
    </dgm:pt>
    <dgm:pt modelId="{F0233725-7A77-44E5-995E-027AF09AF7CC}" type="parTrans" cxnId="{BD555D09-B7E5-4D0D-A002-D045FD9F5D59}">
      <dgm:prSet/>
      <dgm:spPr/>
      <dgm:t>
        <a:bodyPr/>
        <a:lstStyle/>
        <a:p>
          <a:endParaRPr lang="en-US"/>
        </a:p>
      </dgm:t>
    </dgm:pt>
    <dgm:pt modelId="{9733CC4F-21B4-415C-BA0D-1168A1017CFB}" type="sibTrans" cxnId="{BD555D09-B7E5-4D0D-A002-D045FD9F5D59}">
      <dgm:prSet/>
      <dgm:spPr/>
      <dgm:t>
        <a:bodyPr/>
        <a:lstStyle/>
        <a:p>
          <a:r>
            <a:rPr lang="en-US" dirty="0"/>
            <a:t>Agent/s</a:t>
          </a:r>
        </a:p>
      </dgm:t>
    </dgm:pt>
    <dgm:pt modelId="{67982AA9-3109-4D88-8A6C-AD948B731C78}">
      <dgm:prSet phldrT="[Text]"/>
      <dgm:spPr/>
      <dgm:t>
        <a:bodyPr/>
        <a:lstStyle/>
        <a:p>
          <a:r>
            <a:rPr lang="en-US" dirty="0"/>
            <a:t>Local vs Global</a:t>
          </a:r>
        </a:p>
      </dgm:t>
    </dgm:pt>
    <dgm:pt modelId="{808B7699-9611-4856-8F66-838C8434F2FD}" type="parTrans" cxnId="{18B1B53C-468D-4F15-A803-A01494EE2E61}">
      <dgm:prSet/>
      <dgm:spPr/>
      <dgm:t>
        <a:bodyPr/>
        <a:lstStyle/>
        <a:p>
          <a:endParaRPr lang="en-US"/>
        </a:p>
      </dgm:t>
    </dgm:pt>
    <dgm:pt modelId="{1AD3E714-95A6-4210-8577-90A71F9CDD12}" type="sibTrans" cxnId="{18B1B53C-468D-4F15-A803-A01494EE2E61}">
      <dgm:prSet/>
      <dgm:spPr/>
      <dgm:t>
        <a:bodyPr/>
        <a:lstStyle/>
        <a:p>
          <a:r>
            <a:rPr lang="en-US" dirty="0"/>
            <a:t>Knowledge</a:t>
          </a:r>
        </a:p>
      </dgm:t>
    </dgm:pt>
    <dgm:pt modelId="{F2FB493F-BF74-48AE-A569-1886B0998379}">
      <dgm:prSet phldrT="[Text]"/>
      <dgm:spPr/>
      <dgm:t>
        <a:bodyPr/>
        <a:lstStyle/>
        <a:p>
          <a:r>
            <a:rPr lang="en-US" dirty="0"/>
            <a:t>Passive vs Active</a:t>
          </a:r>
        </a:p>
      </dgm:t>
    </dgm:pt>
    <dgm:pt modelId="{8324851E-732C-4C1A-94F4-F9031F2D14D8}" type="parTrans" cxnId="{08263E17-F9C1-4026-AEE7-9974810BED0B}">
      <dgm:prSet/>
      <dgm:spPr/>
      <dgm:t>
        <a:bodyPr/>
        <a:lstStyle/>
        <a:p>
          <a:endParaRPr lang="en-US"/>
        </a:p>
      </dgm:t>
    </dgm:pt>
    <dgm:pt modelId="{294664FA-B806-44E4-B799-16017F45BD2B}" type="sibTrans" cxnId="{08263E17-F9C1-4026-AEE7-9974810BED0B}">
      <dgm:prSet/>
      <dgm:spPr/>
      <dgm:t>
        <a:bodyPr/>
        <a:lstStyle/>
        <a:p>
          <a:r>
            <a:rPr lang="en-US" dirty="0"/>
            <a:t>Motion Control</a:t>
          </a:r>
        </a:p>
      </dgm:t>
    </dgm:pt>
    <dgm:pt modelId="{90F356AB-9DDE-442B-B53C-C17A9170A002}" type="pres">
      <dgm:prSet presAssocID="{7F245C05-AF89-426B-A820-37169FAE38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6DBB0B-C4BB-42AA-A808-40EB213A6620}" type="pres">
      <dgm:prSet presAssocID="{C4659D85-6265-443A-BA04-2446330BCC69}" presName="hierRoot1" presStyleCnt="0">
        <dgm:presLayoutVars>
          <dgm:hierBranch val="init"/>
        </dgm:presLayoutVars>
      </dgm:prSet>
      <dgm:spPr/>
    </dgm:pt>
    <dgm:pt modelId="{2C9FA4A5-07B5-476C-9AD2-E83B467D02F7}" type="pres">
      <dgm:prSet presAssocID="{C4659D85-6265-443A-BA04-2446330BCC69}" presName="rootComposite1" presStyleCnt="0"/>
      <dgm:spPr/>
    </dgm:pt>
    <dgm:pt modelId="{9741B538-2E61-4FEF-87EA-7FC2D12C2B12}" type="pres">
      <dgm:prSet presAssocID="{C4659D85-6265-443A-BA04-2446330BCC69}" presName="rootText1" presStyleLbl="node0" presStyleIdx="0" presStyleCnt="1">
        <dgm:presLayoutVars>
          <dgm:chMax/>
          <dgm:chPref val="3"/>
        </dgm:presLayoutVars>
      </dgm:prSet>
      <dgm:spPr/>
    </dgm:pt>
    <dgm:pt modelId="{56CE08DB-51A6-41D9-94C0-BF8ECA2E9D9E}" type="pres">
      <dgm:prSet presAssocID="{C4659D85-6265-443A-BA04-2446330BCC69}" presName="titleText1" presStyleLbl="fgAcc0" presStyleIdx="0" presStyleCnt="1">
        <dgm:presLayoutVars>
          <dgm:chMax val="0"/>
          <dgm:chPref val="0"/>
        </dgm:presLayoutVars>
      </dgm:prSet>
      <dgm:spPr/>
    </dgm:pt>
    <dgm:pt modelId="{7C8433E5-F87D-4D0D-887D-1511D01050A6}" type="pres">
      <dgm:prSet presAssocID="{C4659D85-6265-443A-BA04-2446330BCC69}" presName="rootConnector1" presStyleLbl="node1" presStyleIdx="0" presStyleCnt="4"/>
      <dgm:spPr/>
    </dgm:pt>
    <dgm:pt modelId="{028641F2-E92A-4F08-92CF-5443D8D9E89A}" type="pres">
      <dgm:prSet presAssocID="{C4659D85-6265-443A-BA04-2446330BCC69}" presName="hierChild2" presStyleCnt="0"/>
      <dgm:spPr/>
    </dgm:pt>
    <dgm:pt modelId="{8CD833FA-4BDC-4C1A-B3A2-D117B7D67A79}" type="pres">
      <dgm:prSet presAssocID="{9339E2D3-8A78-405E-8388-FFC05ED21978}" presName="Name37" presStyleLbl="parChTrans1D2" presStyleIdx="0" presStyleCnt="4"/>
      <dgm:spPr/>
    </dgm:pt>
    <dgm:pt modelId="{6286307E-62CB-42FD-8C75-1DCC70133C59}" type="pres">
      <dgm:prSet presAssocID="{B5BB9CD2-484A-40AD-87CB-CE5309C75E1E}" presName="hierRoot2" presStyleCnt="0">
        <dgm:presLayoutVars>
          <dgm:hierBranch val="init"/>
        </dgm:presLayoutVars>
      </dgm:prSet>
      <dgm:spPr/>
    </dgm:pt>
    <dgm:pt modelId="{E65A31F6-726A-410E-9B3B-DEB2C93D28F6}" type="pres">
      <dgm:prSet presAssocID="{B5BB9CD2-484A-40AD-87CB-CE5309C75E1E}" presName="rootComposite" presStyleCnt="0"/>
      <dgm:spPr/>
    </dgm:pt>
    <dgm:pt modelId="{D71D10D4-8A76-466E-B8F5-507F55385F1E}" type="pres">
      <dgm:prSet presAssocID="{B5BB9CD2-484A-40AD-87CB-CE5309C75E1E}" presName="rootText" presStyleLbl="node1" presStyleIdx="0" presStyleCnt="4">
        <dgm:presLayoutVars>
          <dgm:chMax/>
          <dgm:chPref val="3"/>
        </dgm:presLayoutVars>
      </dgm:prSet>
      <dgm:spPr/>
    </dgm:pt>
    <dgm:pt modelId="{C577ABDE-5D41-46C9-87CD-1B34E5171061}" type="pres">
      <dgm:prSet presAssocID="{B5BB9CD2-484A-40AD-87CB-CE5309C75E1E}" presName="titleText2" presStyleLbl="fgAcc1" presStyleIdx="0" presStyleCnt="4">
        <dgm:presLayoutVars>
          <dgm:chMax val="0"/>
          <dgm:chPref val="0"/>
        </dgm:presLayoutVars>
      </dgm:prSet>
      <dgm:spPr/>
    </dgm:pt>
    <dgm:pt modelId="{CA441CDE-E447-4E88-A90D-E05B3198439D}" type="pres">
      <dgm:prSet presAssocID="{B5BB9CD2-484A-40AD-87CB-CE5309C75E1E}" presName="rootConnector" presStyleLbl="node2" presStyleIdx="0" presStyleCnt="0"/>
      <dgm:spPr/>
    </dgm:pt>
    <dgm:pt modelId="{45D6C862-BC8F-4FA1-9E27-BE31BD27E86F}" type="pres">
      <dgm:prSet presAssocID="{B5BB9CD2-484A-40AD-87CB-CE5309C75E1E}" presName="hierChild4" presStyleCnt="0"/>
      <dgm:spPr/>
    </dgm:pt>
    <dgm:pt modelId="{F47606F5-3514-4F69-A44C-5F4E26BE9159}" type="pres">
      <dgm:prSet presAssocID="{B5BB9CD2-484A-40AD-87CB-CE5309C75E1E}" presName="hierChild5" presStyleCnt="0"/>
      <dgm:spPr/>
    </dgm:pt>
    <dgm:pt modelId="{6C76C7F9-CE8E-4F40-BA9E-13EEDF2DAF94}" type="pres">
      <dgm:prSet presAssocID="{F0233725-7A77-44E5-995E-027AF09AF7CC}" presName="Name37" presStyleLbl="parChTrans1D2" presStyleIdx="1" presStyleCnt="4"/>
      <dgm:spPr/>
    </dgm:pt>
    <dgm:pt modelId="{4B858DC2-B759-41CD-A34D-3AB476A6964E}" type="pres">
      <dgm:prSet presAssocID="{F87143C3-76B8-4779-B797-6A1AC3E2F9C8}" presName="hierRoot2" presStyleCnt="0">
        <dgm:presLayoutVars>
          <dgm:hierBranch val="init"/>
        </dgm:presLayoutVars>
      </dgm:prSet>
      <dgm:spPr/>
    </dgm:pt>
    <dgm:pt modelId="{81577A7D-ED3B-4186-9C1C-B31469E4B915}" type="pres">
      <dgm:prSet presAssocID="{F87143C3-76B8-4779-B797-6A1AC3E2F9C8}" presName="rootComposite" presStyleCnt="0"/>
      <dgm:spPr/>
    </dgm:pt>
    <dgm:pt modelId="{1CE8779C-0D1F-4690-A9AC-B722BB58236D}" type="pres">
      <dgm:prSet presAssocID="{F87143C3-76B8-4779-B797-6A1AC3E2F9C8}" presName="rootText" presStyleLbl="node1" presStyleIdx="1" presStyleCnt="4">
        <dgm:presLayoutVars>
          <dgm:chMax/>
          <dgm:chPref val="3"/>
        </dgm:presLayoutVars>
      </dgm:prSet>
      <dgm:spPr/>
    </dgm:pt>
    <dgm:pt modelId="{4EF3A888-8768-4F6C-8AE4-761754861EF8}" type="pres">
      <dgm:prSet presAssocID="{F87143C3-76B8-4779-B797-6A1AC3E2F9C8}" presName="titleText2" presStyleLbl="fgAcc1" presStyleIdx="1" presStyleCnt="4">
        <dgm:presLayoutVars>
          <dgm:chMax val="0"/>
          <dgm:chPref val="0"/>
        </dgm:presLayoutVars>
      </dgm:prSet>
      <dgm:spPr/>
    </dgm:pt>
    <dgm:pt modelId="{25D69FD9-E7CC-44A1-8BC8-FDEE7BDBD2A1}" type="pres">
      <dgm:prSet presAssocID="{F87143C3-76B8-4779-B797-6A1AC3E2F9C8}" presName="rootConnector" presStyleLbl="node2" presStyleIdx="0" presStyleCnt="0"/>
      <dgm:spPr/>
    </dgm:pt>
    <dgm:pt modelId="{BB94289D-9A05-49C5-B945-B38790640837}" type="pres">
      <dgm:prSet presAssocID="{F87143C3-76B8-4779-B797-6A1AC3E2F9C8}" presName="hierChild4" presStyleCnt="0"/>
      <dgm:spPr/>
    </dgm:pt>
    <dgm:pt modelId="{51C47F3A-821C-4815-813A-9326A3C1D520}" type="pres">
      <dgm:prSet presAssocID="{F87143C3-76B8-4779-B797-6A1AC3E2F9C8}" presName="hierChild5" presStyleCnt="0"/>
      <dgm:spPr/>
    </dgm:pt>
    <dgm:pt modelId="{6F895849-59FD-4E41-87B4-87FEA8F6591D}" type="pres">
      <dgm:prSet presAssocID="{808B7699-9611-4856-8F66-838C8434F2FD}" presName="Name37" presStyleLbl="parChTrans1D2" presStyleIdx="2" presStyleCnt="4"/>
      <dgm:spPr/>
    </dgm:pt>
    <dgm:pt modelId="{AB477DD4-5CA8-469C-875C-DC2C5B88B0D2}" type="pres">
      <dgm:prSet presAssocID="{67982AA9-3109-4D88-8A6C-AD948B731C78}" presName="hierRoot2" presStyleCnt="0">
        <dgm:presLayoutVars>
          <dgm:hierBranch val="init"/>
        </dgm:presLayoutVars>
      </dgm:prSet>
      <dgm:spPr/>
    </dgm:pt>
    <dgm:pt modelId="{DD69AED2-B945-4CA2-BE48-36D63673760A}" type="pres">
      <dgm:prSet presAssocID="{67982AA9-3109-4D88-8A6C-AD948B731C78}" presName="rootComposite" presStyleCnt="0"/>
      <dgm:spPr/>
    </dgm:pt>
    <dgm:pt modelId="{BB0E6022-36A8-4E75-AE91-0066FEC33B9D}" type="pres">
      <dgm:prSet presAssocID="{67982AA9-3109-4D88-8A6C-AD948B731C78}" presName="rootText" presStyleLbl="node1" presStyleIdx="2" presStyleCnt="4">
        <dgm:presLayoutVars>
          <dgm:chMax/>
          <dgm:chPref val="3"/>
        </dgm:presLayoutVars>
      </dgm:prSet>
      <dgm:spPr/>
    </dgm:pt>
    <dgm:pt modelId="{788D9CBA-458B-4E85-9FAD-78462373CE94}" type="pres">
      <dgm:prSet presAssocID="{67982AA9-3109-4D88-8A6C-AD948B731C78}" presName="titleText2" presStyleLbl="fgAcc1" presStyleIdx="2" presStyleCnt="4">
        <dgm:presLayoutVars>
          <dgm:chMax val="0"/>
          <dgm:chPref val="0"/>
        </dgm:presLayoutVars>
      </dgm:prSet>
      <dgm:spPr/>
    </dgm:pt>
    <dgm:pt modelId="{15FC5F43-0BC9-4F01-B0FB-1E885AA5F786}" type="pres">
      <dgm:prSet presAssocID="{67982AA9-3109-4D88-8A6C-AD948B731C78}" presName="rootConnector" presStyleLbl="node2" presStyleIdx="0" presStyleCnt="0"/>
      <dgm:spPr/>
    </dgm:pt>
    <dgm:pt modelId="{90ABD800-5E84-4144-8426-93977E07CE1B}" type="pres">
      <dgm:prSet presAssocID="{67982AA9-3109-4D88-8A6C-AD948B731C78}" presName="hierChild4" presStyleCnt="0"/>
      <dgm:spPr/>
    </dgm:pt>
    <dgm:pt modelId="{8D868F29-6590-4224-8197-4F7E973537DF}" type="pres">
      <dgm:prSet presAssocID="{67982AA9-3109-4D88-8A6C-AD948B731C78}" presName="hierChild5" presStyleCnt="0"/>
      <dgm:spPr/>
    </dgm:pt>
    <dgm:pt modelId="{EBD3D34E-C686-4B42-A9A9-A92F0CE2E6EF}" type="pres">
      <dgm:prSet presAssocID="{8324851E-732C-4C1A-94F4-F9031F2D14D8}" presName="Name37" presStyleLbl="parChTrans1D2" presStyleIdx="3" presStyleCnt="4"/>
      <dgm:spPr/>
    </dgm:pt>
    <dgm:pt modelId="{F0E54DBA-E080-474F-A48C-5ADA1B4239FA}" type="pres">
      <dgm:prSet presAssocID="{F2FB493F-BF74-48AE-A569-1886B0998379}" presName="hierRoot2" presStyleCnt="0">
        <dgm:presLayoutVars>
          <dgm:hierBranch val="init"/>
        </dgm:presLayoutVars>
      </dgm:prSet>
      <dgm:spPr/>
    </dgm:pt>
    <dgm:pt modelId="{887453C4-840C-4C13-98FA-BA6BFCC9E012}" type="pres">
      <dgm:prSet presAssocID="{F2FB493F-BF74-48AE-A569-1886B0998379}" presName="rootComposite" presStyleCnt="0"/>
      <dgm:spPr/>
    </dgm:pt>
    <dgm:pt modelId="{BCDB4767-2284-4D92-A49B-62BAF6F50FB7}" type="pres">
      <dgm:prSet presAssocID="{F2FB493F-BF74-48AE-A569-1886B0998379}" presName="rootText" presStyleLbl="node1" presStyleIdx="3" presStyleCnt="4">
        <dgm:presLayoutVars>
          <dgm:chMax/>
          <dgm:chPref val="3"/>
        </dgm:presLayoutVars>
      </dgm:prSet>
      <dgm:spPr/>
    </dgm:pt>
    <dgm:pt modelId="{E05578A2-89EC-4912-87E5-275BB60296B3}" type="pres">
      <dgm:prSet presAssocID="{F2FB493F-BF74-48AE-A569-1886B0998379}" presName="titleText2" presStyleLbl="fgAcc1" presStyleIdx="3" presStyleCnt="4">
        <dgm:presLayoutVars>
          <dgm:chMax val="0"/>
          <dgm:chPref val="0"/>
        </dgm:presLayoutVars>
      </dgm:prSet>
      <dgm:spPr/>
    </dgm:pt>
    <dgm:pt modelId="{3E1376B3-E60D-4413-A31C-2E8280870E37}" type="pres">
      <dgm:prSet presAssocID="{F2FB493F-BF74-48AE-A569-1886B0998379}" presName="rootConnector" presStyleLbl="node2" presStyleIdx="0" presStyleCnt="0"/>
      <dgm:spPr/>
    </dgm:pt>
    <dgm:pt modelId="{79C78BED-D401-4BA9-9947-6E56F167C870}" type="pres">
      <dgm:prSet presAssocID="{F2FB493F-BF74-48AE-A569-1886B0998379}" presName="hierChild4" presStyleCnt="0"/>
      <dgm:spPr/>
    </dgm:pt>
    <dgm:pt modelId="{8101D842-5D5F-40E2-8C2D-C5FDA6D1ADDB}" type="pres">
      <dgm:prSet presAssocID="{F2FB493F-BF74-48AE-A569-1886B0998379}" presName="hierChild5" presStyleCnt="0"/>
      <dgm:spPr/>
    </dgm:pt>
    <dgm:pt modelId="{96A9C466-3A7B-4AE6-A053-9F57C0A70339}" type="pres">
      <dgm:prSet presAssocID="{C4659D85-6265-443A-BA04-2446330BCC69}" presName="hierChild3" presStyleCnt="0"/>
      <dgm:spPr/>
    </dgm:pt>
  </dgm:ptLst>
  <dgm:cxnLst>
    <dgm:cxn modelId="{56E10201-887B-45BE-8A2A-EA49094CBE2E}" type="presOf" srcId="{9733CC4F-21B4-415C-BA0D-1168A1017CFB}" destId="{4EF3A888-8768-4F6C-8AE4-761754861EF8}" srcOrd="0" destOrd="0" presId="urn:microsoft.com/office/officeart/2008/layout/NameandTitleOrganizationalChart"/>
    <dgm:cxn modelId="{BD555D09-B7E5-4D0D-A002-D045FD9F5D59}" srcId="{C4659D85-6265-443A-BA04-2446330BCC69}" destId="{F87143C3-76B8-4779-B797-6A1AC3E2F9C8}" srcOrd="1" destOrd="0" parTransId="{F0233725-7A77-44E5-995E-027AF09AF7CC}" sibTransId="{9733CC4F-21B4-415C-BA0D-1168A1017CFB}"/>
    <dgm:cxn modelId="{08263E17-F9C1-4026-AEE7-9974810BED0B}" srcId="{C4659D85-6265-443A-BA04-2446330BCC69}" destId="{F2FB493F-BF74-48AE-A569-1886B0998379}" srcOrd="3" destOrd="0" parTransId="{8324851E-732C-4C1A-94F4-F9031F2D14D8}" sibTransId="{294664FA-B806-44E4-B799-16017F45BD2B}"/>
    <dgm:cxn modelId="{2536941A-321E-4491-9382-C9F3926E00B8}" type="presOf" srcId="{4217E665-2798-4D75-82D8-5F619418B5B3}" destId="{56CE08DB-51A6-41D9-94C0-BF8ECA2E9D9E}" srcOrd="0" destOrd="0" presId="urn:microsoft.com/office/officeart/2008/layout/NameandTitleOrganizationalChart"/>
    <dgm:cxn modelId="{143FB423-5F52-4902-83A0-7C1B1F03DE16}" type="presOf" srcId="{B5BB9CD2-484A-40AD-87CB-CE5309C75E1E}" destId="{D71D10D4-8A76-466E-B8F5-507F55385F1E}" srcOrd="0" destOrd="0" presId="urn:microsoft.com/office/officeart/2008/layout/NameandTitleOrganizationalChart"/>
    <dgm:cxn modelId="{02C54E32-8E00-4B6A-8AD8-66E33065CE4C}" type="presOf" srcId="{C4659D85-6265-443A-BA04-2446330BCC69}" destId="{9741B538-2E61-4FEF-87EA-7FC2D12C2B12}" srcOrd="0" destOrd="0" presId="urn:microsoft.com/office/officeart/2008/layout/NameandTitleOrganizationalChart"/>
    <dgm:cxn modelId="{7BCDA837-8829-4678-AFA7-1C6733177D11}" type="presOf" srcId="{294664FA-B806-44E4-B799-16017F45BD2B}" destId="{E05578A2-89EC-4912-87E5-275BB60296B3}" srcOrd="0" destOrd="0" presId="urn:microsoft.com/office/officeart/2008/layout/NameandTitleOrganizationalChart"/>
    <dgm:cxn modelId="{4F4DDA38-33A4-4F5E-9928-6453267164EB}" srcId="{C4659D85-6265-443A-BA04-2446330BCC69}" destId="{B5BB9CD2-484A-40AD-87CB-CE5309C75E1E}" srcOrd="0" destOrd="0" parTransId="{9339E2D3-8A78-405E-8388-FFC05ED21978}" sibTransId="{1C148752-7D82-46DF-BCED-D854BA4E95A7}"/>
    <dgm:cxn modelId="{0C98623B-F89E-44A6-913B-CC3B9EC2CDE6}" type="presOf" srcId="{F2FB493F-BF74-48AE-A569-1886B0998379}" destId="{BCDB4767-2284-4D92-A49B-62BAF6F50FB7}" srcOrd="0" destOrd="0" presId="urn:microsoft.com/office/officeart/2008/layout/NameandTitleOrganizationalChart"/>
    <dgm:cxn modelId="{18B1B53C-468D-4F15-A803-A01494EE2E61}" srcId="{C4659D85-6265-443A-BA04-2446330BCC69}" destId="{67982AA9-3109-4D88-8A6C-AD948B731C78}" srcOrd="2" destOrd="0" parTransId="{808B7699-9611-4856-8F66-838C8434F2FD}" sibTransId="{1AD3E714-95A6-4210-8577-90A71F9CDD12}"/>
    <dgm:cxn modelId="{4AB1A862-D23B-43E9-B9A7-F407DCFC7A70}" type="presOf" srcId="{1AD3E714-95A6-4210-8577-90A71F9CDD12}" destId="{788D9CBA-458B-4E85-9FAD-78462373CE94}" srcOrd="0" destOrd="0" presId="urn:microsoft.com/office/officeart/2008/layout/NameandTitleOrganizationalChart"/>
    <dgm:cxn modelId="{2944DF46-98DF-4557-AB69-3FB5499D07B4}" type="presOf" srcId="{F2FB493F-BF74-48AE-A569-1886B0998379}" destId="{3E1376B3-E60D-4413-A31C-2E8280870E37}" srcOrd="1" destOrd="0" presId="urn:microsoft.com/office/officeart/2008/layout/NameandTitleOrganizationalChart"/>
    <dgm:cxn modelId="{D26E0D4C-9B26-4EED-BE08-ED644E3B833D}" type="presOf" srcId="{F0233725-7A77-44E5-995E-027AF09AF7CC}" destId="{6C76C7F9-CE8E-4F40-BA9E-13EEDF2DAF94}" srcOrd="0" destOrd="0" presId="urn:microsoft.com/office/officeart/2008/layout/NameandTitleOrganizationalChart"/>
    <dgm:cxn modelId="{E7D0EF84-EE10-4E62-93A5-34B5B19898DF}" type="presOf" srcId="{808B7699-9611-4856-8F66-838C8434F2FD}" destId="{6F895849-59FD-4E41-87B4-87FEA8F6591D}" srcOrd="0" destOrd="0" presId="urn:microsoft.com/office/officeart/2008/layout/NameandTitleOrganizationalChart"/>
    <dgm:cxn modelId="{8B0A5185-B0CC-43B4-B68A-83E82B56B46C}" type="presOf" srcId="{F87143C3-76B8-4779-B797-6A1AC3E2F9C8}" destId="{25D69FD9-E7CC-44A1-8BC8-FDEE7BDBD2A1}" srcOrd="1" destOrd="0" presId="urn:microsoft.com/office/officeart/2008/layout/NameandTitleOrganizationalChart"/>
    <dgm:cxn modelId="{9506C994-753B-40F6-89EF-7BEFC45A0AAE}" type="presOf" srcId="{8324851E-732C-4C1A-94F4-F9031F2D14D8}" destId="{EBD3D34E-C686-4B42-A9A9-A92F0CE2E6EF}" srcOrd="0" destOrd="0" presId="urn:microsoft.com/office/officeart/2008/layout/NameandTitleOrganizationalChart"/>
    <dgm:cxn modelId="{16E2D29E-F07C-440D-80C3-A8AEBD41830F}" type="presOf" srcId="{F87143C3-76B8-4779-B797-6A1AC3E2F9C8}" destId="{1CE8779C-0D1F-4690-A9AC-B722BB58236D}" srcOrd="0" destOrd="0" presId="urn:microsoft.com/office/officeart/2008/layout/NameandTitleOrganizationalChart"/>
    <dgm:cxn modelId="{00D0A1A1-7915-4B18-BA5B-B0CC8ECF3A50}" type="presOf" srcId="{67982AA9-3109-4D88-8A6C-AD948B731C78}" destId="{BB0E6022-36A8-4E75-AE91-0066FEC33B9D}" srcOrd="0" destOrd="0" presId="urn:microsoft.com/office/officeart/2008/layout/NameandTitleOrganizationalChart"/>
    <dgm:cxn modelId="{3C1988C2-7112-472B-9DFE-3C3DE31030B1}" type="presOf" srcId="{67982AA9-3109-4D88-8A6C-AD948B731C78}" destId="{15FC5F43-0BC9-4F01-B0FB-1E885AA5F786}" srcOrd="1" destOrd="0" presId="urn:microsoft.com/office/officeart/2008/layout/NameandTitleOrganizationalChart"/>
    <dgm:cxn modelId="{F69172CC-E984-40F4-A966-79D915FD3428}" type="presOf" srcId="{7F245C05-AF89-426B-A820-37169FAE3858}" destId="{90F356AB-9DDE-442B-B53C-C17A9170A002}" srcOrd="0" destOrd="0" presId="urn:microsoft.com/office/officeart/2008/layout/NameandTitleOrganizationalChart"/>
    <dgm:cxn modelId="{BCF97DD1-BBCA-4B69-9DAB-887012624638}" srcId="{7F245C05-AF89-426B-A820-37169FAE3858}" destId="{C4659D85-6265-443A-BA04-2446330BCC69}" srcOrd="0" destOrd="0" parTransId="{29A660DA-E3DC-4108-A39A-3701F977ECA3}" sibTransId="{4217E665-2798-4D75-82D8-5F619418B5B3}"/>
    <dgm:cxn modelId="{5A00B9D7-3F04-4137-B3DE-9058D17CDE35}" type="presOf" srcId="{C4659D85-6265-443A-BA04-2446330BCC69}" destId="{7C8433E5-F87D-4D0D-887D-1511D01050A6}" srcOrd="1" destOrd="0" presId="urn:microsoft.com/office/officeart/2008/layout/NameandTitleOrganizationalChart"/>
    <dgm:cxn modelId="{50B2C2F0-5AD7-48B6-B0F0-09E74C325FD5}" type="presOf" srcId="{1C148752-7D82-46DF-BCED-D854BA4E95A7}" destId="{C577ABDE-5D41-46C9-87CD-1B34E5171061}" srcOrd="0" destOrd="0" presId="urn:microsoft.com/office/officeart/2008/layout/NameandTitleOrganizationalChart"/>
    <dgm:cxn modelId="{A0254AF1-F32F-415B-A1D9-EAE0B18F0B30}" type="presOf" srcId="{9339E2D3-8A78-405E-8388-FFC05ED21978}" destId="{8CD833FA-4BDC-4C1A-B3A2-D117B7D67A79}" srcOrd="0" destOrd="0" presId="urn:microsoft.com/office/officeart/2008/layout/NameandTitleOrganizationalChart"/>
    <dgm:cxn modelId="{590A2AF5-7C32-4767-BEB1-7C22B05F3B38}" type="presOf" srcId="{B5BB9CD2-484A-40AD-87CB-CE5309C75E1E}" destId="{CA441CDE-E447-4E88-A90D-E05B3198439D}" srcOrd="1" destOrd="0" presId="urn:microsoft.com/office/officeart/2008/layout/NameandTitleOrganizationalChart"/>
    <dgm:cxn modelId="{9BEDD5EF-37BF-4AD8-9409-1FF609FE7FAC}" type="presParOf" srcId="{90F356AB-9DDE-442B-B53C-C17A9170A002}" destId="{7F6DBB0B-C4BB-42AA-A808-40EB213A6620}" srcOrd="0" destOrd="0" presId="urn:microsoft.com/office/officeart/2008/layout/NameandTitleOrganizationalChart"/>
    <dgm:cxn modelId="{A5EAED7F-823D-4705-B081-04F003DB2338}" type="presParOf" srcId="{7F6DBB0B-C4BB-42AA-A808-40EB213A6620}" destId="{2C9FA4A5-07B5-476C-9AD2-E83B467D02F7}" srcOrd="0" destOrd="0" presId="urn:microsoft.com/office/officeart/2008/layout/NameandTitleOrganizationalChart"/>
    <dgm:cxn modelId="{8B7576F6-8D68-4BE3-ADF9-97B2A4AE6D25}" type="presParOf" srcId="{2C9FA4A5-07B5-476C-9AD2-E83B467D02F7}" destId="{9741B538-2E61-4FEF-87EA-7FC2D12C2B12}" srcOrd="0" destOrd="0" presId="urn:microsoft.com/office/officeart/2008/layout/NameandTitleOrganizationalChart"/>
    <dgm:cxn modelId="{186FA624-0A07-44D8-8514-ECA47432C5F3}" type="presParOf" srcId="{2C9FA4A5-07B5-476C-9AD2-E83B467D02F7}" destId="{56CE08DB-51A6-41D9-94C0-BF8ECA2E9D9E}" srcOrd="1" destOrd="0" presId="urn:microsoft.com/office/officeart/2008/layout/NameandTitleOrganizationalChart"/>
    <dgm:cxn modelId="{1A549592-5989-4ED6-A57C-BFB424CF4D63}" type="presParOf" srcId="{2C9FA4A5-07B5-476C-9AD2-E83B467D02F7}" destId="{7C8433E5-F87D-4D0D-887D-1511D01050A6}" srcOrd="2" destOrd="0" presId="urn:microsoft.com/office/officeart/2008/layout/NameandTitleOrganizationalChart"/>
    <dgm:cxn modelId="{08374E4B-EAB1-49CD-88F5-E8D148A6A6F0}" type="presParOf" srcId="{7F6DBB0B-C4BB-42AA-A808-40EB213A6620}" destId="{028641F2-E92A-4F08-92CF-5443D8D9E89A}" srcOrd="1" destOrd="0" presId="urn:microsoft.com/office/officeart/2008/layout/NameandTitleOrganizationalChart"/>
    <dgm:cxn modelId="{0C668039-0458-4F47-874A-57CBFDDA551D}" type="presParOf" srcId="{028641F2-E92A-4F08-92CF-5443D8D9E89A}" destId="{8CD833FA-4BDC-4C1A-B3A2-D117B7D67A79}" srcOrd="0" destOrd="0" presId="urn:microsoft.com/office/officeart/2008/layout/NameandTitleOrganizationalChart"/>
    <dgm:cxn modelId="{1D64DA69-56BD-4A97-9780-D13B07255F06}" type="presParOf" srcId="{028641F2-E92A-4F08-92CF-5443D8D9E89A}" destId="{6286307E-62CB-42FD-8C75-1DCC70133C59}" srcOrd="1" destOrd="0" presId="urn:microsoft.com/office/officeart/2008/layout/NameandTitleOrganizationalChart"/>
    <dgm:cxn modelId="{75466A8F-57D4-42A1-B655-9BE5D21E858C}" type="presParOf" srcId="{6286307E-62CB-42FD-8C75-1DCC70133C59}" destId="{E65A31F6-726A-410E-9B3B-DEB2C93D28F6}" srcOrd="0" destOrd="0" presId="urn:microsoft.com/office/officeart/2008/layout/NameandTitleOrganizationalChart"/>
    <dgm:cxn modelId="{5C347D08-1F91-4424-BCC9-3299778238CD}" type="presParOf" srcId="{E65A31F6-726A-410E-9B3B-DEB2C93D28F6}" destId="{D71D10D4-8A76-466E-B8F5-507F55385F1E}" srcOrd="0" destOrd="0" presId="urn:microsoft.com/office/officeart/2008/layout/NameandTitleOrganizationalChart"/>
    <dgm:cxn modelId="{EBFD2F6B-FEA9-4ED4-BAAF-4829D5E5D642}" type="presParOf" srcId="{E65A31F6-726A-410E-9B3B-DEB2C93D28F6}" destId="{C577ABDE-5D41-46C9-87CD-1B34E5171061}" srcOrd="1" destOrd="0" presId="urn:microsoft.com/office/officeart/2008/layout/NameandTitleOrganizationalChart"/>
    <dgm:cxn modelId="{DB9381C7-1322-4865-A688-4AFB0BF96702}" type="presParOf" srcId="{E65A31F6-726A-410E-9B3B-DEB2C93D28F6}" destId="{CA441CDE-E447-4E88-A90D-E05B3198439D}" srcOrd="2" destOrd="0" presId="urn:microsoft.com/office/officeart/2008/layout/NameandTitleOrganizationalChart"/>
    <dgm:cxn modelId="{AC5993C2-9891-48CF-8EF9-3537920E14CB}" type="presParOf" srcId="{6286307E-62CB-42FD-8C75-1DCC70133C59}" destId="{45D6C862-BC8F-4FA1-9E27-BE31BD27E86F}" srcOrd="1" destOrd="0" presId="urn:microsoft.com/office/officeart/2008/layout/NameandTitleOrganizationalChart"/>
    <dgm:cxn modelId="{695CBDE7-176D-451E-9937-D9157AABC5D5}" type="presParOf" srcId="{6286307E-62CB-42FD-8C75-1DCC70133C59}" destId="{F47606F5-3514-4F69-A44C-5F4E26BE9159}" srcOrd="2" destOrd="0" presId="urn:microsoft.com/office/officeart/2008/layout/NameandTitleOrganizationalChart"/>
    <dgm:cxn modelId="{C3B5B66F-D8D7-4253-B66E-DE08917A01D3}" type="presParOf" srcId="{028641F2-E92A-4F08-92CF-5443D8D9E89A}" destId="{6C76C7F9-CE8E-4F40-BA9E-13EEDF2DAF94}" srcOrd="2" destOrd="0" presId="urn:microsoft.com/office/officeart/2008/layout/NameandTitleOrganizationalChart"/>
    <dgm:cxn modelId="{4630FD58-B3CC-4AE3-82AE-A9AC43C50AED}" type="presParOf" srcId="{028641F2-E92A-4F08-92CF-5443D8D9E89A}" destId="{4B858DC2-B759-41CD-A34D-3AB476A6964E}" srcOrd="3" destOrd="0" presId="urn:microsoft.com/office/officeart/2008/layout/NameandTitleOrganizationalChart"/>
    <dgm:cxn modelId="{2152BA10-5C0F-4541-8369-4724931698D1}" type="presParOf" srcId="{4B858DC2-B759-41CD-A34D-3AB476A6964E}" destId="{81577A7D-ED3B-4186-9C1C-B31469E4B915}" srcOrd="0" destOrd="0" presId="urn:microsoft.com/office/officeart/2008/layout/NameandTitleOrganizationalChart"/>
    <dgm:cxn modelId="{23A8446C-1F52-46F0-B58E-2E7E8ED8281B}" type="presParOf" srcId="{81577A7D-ED3B-4186-9C1C-B31469E4B915}" destId="{1CE8779C-0D1F-4690-A9AC-B722BB58236D}" srcOrd="0" destOrd="0" presId="urn:microsoft.com/office/officeart/2008/layout/NameandTitleOrganizationalChart"/>
    <dgm:cxn modelId="{884A38AB-43D5-4EC9-BBED-E7642BBB7523}" type="presParOf" srcId="{81577A7D-ED3B-4186-9C1C-B31469E4B915}" destId="{4EF3A888-8768-4F6C-8AE4-761754861EF8}" srcOrd="1" destOrd="0" presId="urn:microsoft.com/office/officeart/2008/layout/NameandTitleOrganizationalChart"/>
    <dgm:cxn modelId="{C949D670-8D6A-4918-8D28-6B84A007923D}" type="presParOf" srcId="{81577A7D-ED3B-4186-9C1C-B31469E4B915}" destId="{25D69FD9-E7CC-44A1-8BC8-FDEE7BDBD2A1}" srcOrd="2" destOrd="0" presId="urn:microsoft.com/office/officeart/2008/layout/NameandTitleOrganizationalChart"/>
    <dgm:cxn modelId="{E52D5B90-43B6-4963-B9C0-9BAC4DFB0E61}" type="presParOf" srcId="{4B858DC2-B759-41CD-A34D-3AB476A6964E}" destId="{BB94289D-9A05-49C5-B945-B38790640837}" srcOrd="1" destOrd="0" presId="urn:microsoft.com/office/officeart/2008/layout/NameandTitleOrganizationalChart"/>
    <dgm:cxn modelId="{C69496EB-A403-457D-ADF5-E343E510AB8E}" type="presParOf" srcId="{4B858DC2-B759-41CD-A34D-3AB476A6964E}" destId="{51C47F3A-821C-4815-813A-9326A3C1D520}" srcOrd="2" destOrd="0" presId="urn:microsoft.com/office/officeart/2008/layout/NameandTitleOrganizationalChart"/>
    <dgm:cxn modelId="{4347DE3B-2264-4F2D-AA88-8036A0CF7496}" type="presParOf" srcId="{028641F2-E92A-4F08-92CF-5443D8D9E89A}" destId="{6F895849-59FD-4E41-87B4-87FEA8F6591D}" srcOrd="4" destOrd="0" presId="urn:microsoft.com/office/officeart/2008/layout/NameandTitleOrganizationalChart"/>
    <dgm:cxn modelId="{F00CBD89-185B-4615-A63B-AAD6BCFE4CCB}" type="presParOf" srcId="{028641F2-E92A-4F08-92CF-5443D8D9E89A}" destId="{AB477DD4-5CA8-469C-875C-DC2C5B88B0D2}" srcOrd="5" destOrd="0" presId="urn:microsoft.com/office/officeart/2008/layout/NameandTitleOrganizationalChart"/>
    <dgm:cxn modelId="{265FD4FD-1B5C-4358-BE75-CB4F46EC772B}" type="presParOf" srcId="{AB477DD4-5CA8-469C-875C-DC2C5B88B0D2}" destId="{DD69AED2-B945-4CA2-BE48-36D63673760A}" srcOrd="0" destOrd="0" presId="urn:microsoft.com/office/officeart/2008/layout/NameandTitleOrganizationalChart"/>
    <dgm:cxn modelId="{A91D7763-2229-4EE6-B9E6-BB0980EA701E}" type="presParOf" srcId="{DD69AED2-B945-4CA2-BE48-36D63673760A}" destId="{BB0E6022-36A8-4E75-AE91-0066FEC33B9D}" srcOrd="0" destOrd="0" presId="urn:microsoft.com/office/officeart/2008/layout/NameandTitleOrganizationalChart"/>
    <dgm:cxn modelId="{3E974E26-63E5-4890-93DA-82C369941E58}" type="presParOf" srcId="{DD69AED2-B945-4CA2-BE48-36D63673760A}" destId="{788D9CBA-458B-4E85-9FAD-78462373CE94}" srcOrd="1" destOrd="0" presId="urn:microsoft.com/office/officeart/2008/layout/NameandTitleOrganizationalChart"/>
    <dgm:cxn modelId="{210E4F18-AFAD-40BD-BAF2-BA002FD21EDA}" type="presParOf" srcId="{DD69AED2-B945-4CA2-BE48-36D63673760A}" destId="{15FC5F43-0BC9-4F01-B0FB-1E885AA5F786}" srcOrd="2" destOrd="0" presId="urn:microsoft.com/office/officeart/2008/layout/NameandTitleOrganizationalChart"/>
    <dgm:cxn modelId="{59D133F5-0AC1-4536-B7C1-9D746505C746}" type="presParOf" srcId="{AB477DD4-5CA8-469C-875C-DC2C5B88B0D2}" destId="{90ABD800-5E84-4144-8426-93977E07CE1B}" srcOrd="1" destOrd="0" presId="urn:microsoft.com/office/officeart/2008/layout/NameandTitleOrganizationalChart"/>
    <dgm:cxn modelId="{01C78091-D899-41DD-B1F4-34500C351F94}" type="presParOf" srcId="{AB477DD4-5CA8-469C-875C-DC2C5B88B0D2}" destId="{8D868F29-6590-4224-8197-4F7E973537DF}" srcOrd="2" destOrd="0" presId="urn:microsoft.com/office/officeart/2008/layout/NameandTitleOrganizationalChart"/>
    <dgm:cxn modelId="{987E70D6-0A76-49BA-BA5E-32A51B3BA8CD}" type="presParOf" srcId="{028641F2-E92A-4F08-92CF-5443D8D9E89A}" destId="{EBD3D34E-C686-4B42-A9A9-A92F0CE2E6EF}" srcOrd="6" destOrd="0" presId="urn:microsoft.com/office/officeart/2008/layout/NameandTitleOrganizationalChart"/>
    <dgm:cxn modelId="{D63CC779-F3E0-4CB2-A37E-C4C9BDB32E08}" type="presParOf" srcId="{028641F2-E92A-4F08-92CF-5443D8D9E89A}" destId="{F0E54DBA-E080-474F-A48C-5ADA1B4239FA}" srcOrd="7" destOrd="0" presId="urn:microsoft.com/office/officeart/2008/layout/NameandTitleOrganizationalChart"/>
    <dgm:cxn modelId="{06F222F2-3585-4DCE-BD69-5070454EC35D}" type="presParOf" srcId="{F0E54DBA-E080-474F-A48C-5ADA1B4239FA}" destId="{887453C4-840C-4C13-98FA-BA6BFCC9E012}" srcOrd="0" destOrd="0" presId="urn:microsoft.com/office/officeart/2008/layout/NameandTitleOrganizationalChart"/>
    <dgm:cxn modelId="{8AF7C4A1-A27E-447B-B32A-9076603CDCC0}" type="presParOf" srcId="{887453C4-840C-4C13-98FA-BA6BFCC9E012}" destId="{BCDB4767-2284-4D92-A49B-62BAF6F50FB7}" srcOrd="0" destOrd="0" presId="urn:microsoft.com/office/officeart/2008/layout/NameandTitleOrganizationalChart"/>
    <dgm:cxn modelId="{D714EE9C-F5FE-47BA-B7A7-794CB008F443}" type="presParOf" srcId="{887453C4-840C-4C13-98FA-BA6BFCC9E012}" destId="{E05578A2-89EC-4912-87E5-275BB60296B3}" srcOrd="1" destOrd="0" presId="urn:microsoft.com/office/officeart/2008/layout/NameandTitleOrganizationalChart"/>
    <dgm:cxn modelId="{91E2E965-EC45-4DC1-91A6-F51967D56FC5}" type="presParOf" srcId="{887453C4-840C-4C13-98FA-BA6BFCC9E012}" destId="{3E1376B3-E60D-4413-A31C-2E8280870E37}" srcOrd="2" destOrd="0" presId="urn:microsoft.com/office/officeart/2008/layout/NameandTitleOrganizationalChart"/>
    <dgm:cxn modelId="{3CDAF374-37FD-47A4-A6A4-21D64F4CCBC1}" type="presParOf" srcId="{F0E54DBA-E080-474F-A48C-5ADA1B4239FA}" destId="{79C78BED-D401-4BA9-9947-6E56F167C870}" srcOrd="1" destOrd="0" presId="urn:microsoft.com/office/officeart/2008/layout/NameandTitleOrganizationalChart"/>
    <dgm:cxn modelId="{B9CED9D6-AA3A-410E-A479-8F4CCE15A439}" type="presParOf" srcId="{F0E54DBA-E080-474F-A48C-5ADA1B4239FA}" destId="{8101D842-5D5F-40E2-8C2D-C5FDA6D1ADDB}" srcOrd="2" destOrd="0" presId="urn:microsoft.com/office/officeart/2008/layout/NameandTitleOrganizationalChart"/>
    <dgm:cxn modelId="{AB67BAFF-C483-4ED7-93D3-DFE5234C0ACD}" type="presParOf" srcId="{7F6DBB0B-C4BB-42AA-A808-40EB213A6620}" destId="{96A9C466-3A7B-4AE6-A053-9F57C0A70339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3D34E-C686-4B42-A9A9-A92F0CE2E6EF}">
      <dsp:nvSpPr>
        <dsp:cNvPr id="0" name=""/>
        <dsp:cNvSpPr/>
      </dsp:nvSpPr>
      <dsp:spPr>
        <a:xfrm>
          <a:off x="2947001" y="2096865"/>
          <a:ext cx="2312541" cy="343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933"/>
              </a:lnTo>
              <a:lnTo>
                <a:pt x="2312541" y="204933"/>
              </a:lnTo>
              <a:lnTo>
                <a:pt x="2312541" y="3437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95849-59FD-4E41-87B4-87FEA8F6591D}">
      <dsp:nvSpPr>
        <dsp:cNvPr id="0" name=""/>
        <dsp:cNvSpPr/>
      </dsp:nvSpPr>
      <dsp:spPr>
        <a:xfrm>
          <a:off x="2947001" y="2096865"/>
          <a:ext cx="770847" cy="343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933"/>
              </a:lnTo>
              <a:lnTo>
                <a:pt x="770847" y="204933"/>
              </a:lnTo>
              <a:lnTo>
                <a:pt x="770847" y="3437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6C7F9-CE8E-4F40-BA9E-13EEDF2DAF94}">
      <dsp:nvSpPr>
        <dsp:cNvPr id="0" name=""/>
        <dsp:cNvSpPr/>
      </dsp:nvSpPr>
      <dsp:spPr>
        <a:xfrm>
          <a:off x="2176153" y="2096865"/>
          <a:ext cx="770847" cy="343759"/>
        </a:xfrm>
        <a:custGeom>
          <a:avLst/>
          <a:gdLst/>
          <a:ahLst/>
          <a:cxnLst/>
          <a:rect l="0" t="0" r="0" b="0"/>
          <a:pathLst>
            <a:path>
              <a:moveTo>
                <a:pt x="770847" y="0"/>
              </a:moveTo>
              <a:lnTo>
                <a:pt x="770847" y="204933"/>
              </a:lnTo>
              <a:lnTo>
                <a:pt x="0" y="204933"/>
              </a:lnTo>
              <a:lnTo>
                <a:pt x="0" y="3437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833FA-4BDC-4C1A-B3A2-D117B7D67A79}">
      <dsp:nvSpPr>
        <dsp:cNvPr id="0" name=""/>
        <dsp:cNvSpPr/>
      </dsp:nvSpPr>
      <dsp:spPr>
        <a:xfrm>
          <a:off x="634459" y="2096865"/>
          <a:ext cx="2312541" cy="343759"/>
        </a:xfrm>
        <a:custGeom>
          <a:avLst/>
          <a:gdLst/>
          <a:ahLst/>
          <a:cxnLst/>
          <a:rect l="0" t="0" r="0" b="0"/>
          <a:pathLst>
            <a:path>
              <a:moveTo>
                <a:pt x="2312541" y="0"/>
              </a:moveTo>
              <a:lnTo>
                <a:pt x="2312541" y="204933"/>
              </a:lnTo>
              <a:lnTo>
                <a:pt x="0" y="204933"/>
              </a:lnTo>
              <a:lnTo>
                <a:pt x="0" y="3437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1B538-2E61-4FEF-87EA-7FC2D12C2B12}">
      <dsp:nvSpPr>
        <dsp:cNvPr id="0" name=""/>
        <dsp:cNvSpPr/>
      </dsp:nvSpPr>
      <dsp:spPr>
        <a:xfrm>
          <a:off x="2372436" y="1501897"/>
          <a:ext cx="1149129" cy="59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8395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Problem Types</a:t>
          </a:r>
        </a:p>
      </dsp:txBody>
      <dsp:txXfrm>
        <a:off x="2372436" y="1501897"/>
        <a:ext cx="1149129" cy="594968"/>
      </dsp:txXfrm>
    </dsp:sp>
    <dsp:sp modelId="{56CE08DB-51A6-41D9-94C0-BF8ECA2E9D9E}">
      <dsp:nvSpPr>
        <dsp:cNvPr id="0" name=""/>
        <dsp:cNvSpPr/>
      </dsp:nvSpPr>
      <dsp:spPr>
        <a:xfrm>
          <a:off x="2602262" y="1964650"/>
          <a:ext cx="1034216" cy="1983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602262" y="1964650"/>
        <a:ext cx="1034216" cy="198322"/>
      </dsp:txXfrm>
    </dsp:sp>
    <dsp:sp modelId="{D71D10D4-8A76-466E-B8F5-507F55385F1E}">
      <dsp:nvSpPr>
        <dsp:cNvPr id="0" name=""/>
        <dsp:cNvSpPr/>
      </dsp:nvSpPr>
      <dsp:spPr>
        <a:xfrm>
          <a:off x="59894" y="2440625"/>
          <a:ext cx="1149129" cy="59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8395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Static vs Dynamic</a:t>
          </a:r>
        </a:p>
      </dsp:txBody>
      <dsp:txXfrm>
        <a:off x="59894" y="2440625"/>
        <a:ext cx="1149129" cy="594968"/>
      </dsp:txXfrm>
    </dsp:sp>
    <dsp:sp modelId="{C577ABDE-5D41-46C9-87CD-1B34E5171061}">
      <dsp:nvSpPr>
        <dsp:cNvPr id="0" name=""/>
        <dsp:cNvSpPr/>
      </dsp:nvSpPr>
      <dsp:spPr>
        <a:xfrm>
          <a:off x="289720" y="2903378"/>
          <a:ext cx="1034216" cy="1983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Environment</a:t>
          </a:r>
        </a:p>
      </dsp:txBody>
      <dsp:txXfrm>
        <a:off x="289720" y="2903378"/>
        <a:ext cx="1034216" cy="198322"/>
      </dsp:txXfrm>
    </dsp:sp>
    <dsp:sp modelId="{1CE8779C-0D1F-4690-A9AC-B722BB58236D}">
      <dsp:nvSpPr>
        <dsp:cNvPr id="0" name=""/>
        <dsp:cNvSpPr/>
      </dsp:nvSpPr>
      <dsp:spPr>
        <a:xfrm>
          <a:off x="1601588" y="2440625"/>
          <a:ext cx="1149129" cy="59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8395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Single vs  multiple</a:t>
          </a:r>
        </a:p>
      </dsp:txBody>
      <dsp:txXfrm>
        <a:off x="1601588" y="2440625"/>
        <a:ext cx="1149129" cy="594968"/>
      </dsp:txXfrm>
    </dsp:sp>
    <dsp:sp modelId="{4EF3A888-8768-4F6C-8AE4-761754861EF8}">
      <dsp:nvSpPr>
        <dsp:cNvPr id="0" name=""/>
        <dsp:cNvSpPr/>
      </dsp:nvSpPr>
      <dsp:spPr>
        <a:xfrm>
          <a:off x="1831414" y="2903378"/>
          <a:ext cx="1034216" cy="1983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Agent/s</a:t>
          </a:r>
        </a:p>
      </dsp:txBody>
      <dsp:txXfrm>
        <a:off x="1831414" y="2903378"/>
        <a:ext cx="1034216" cy="198322"/>
      </dsp:txXfrm>
    </dsp:sp>
    <dsp:sp modelId="{BB0E6022-36A8-4E75-AE91-0066FEC33B9D}">
      <dsp:nvSpPr>
        <dsp:cNvPr id="0" name=""/>
        <dsp:cNvSpPr/>
      </dsp:nvSpPr>
      <dsp:spPr>
        <a:xfrm>
          <a:off x="3143283" y="2440625"/>
          <a:ext cx="1149129" cy="59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8395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vs Global</a:t>
          </a:r>
        </a:p>
      </dsp:txBody>
      <dsp:txXfrm>
        <a:off x="3143283" y="2440625"/>
        <a:ext cx="1149129" cy="594968"/>
      </dsp:txXfrm>
    </dsp:sp>
    <dsp:sp modelId="{788D9CBA-458B-4E85-9FAD-78462373CE94}">
      <dsp:nvSpPr>
        <dsp:cNvPr id="0" name=""/>
        <dsp:cNvSpPr/>
      </dsp:nvSpPr>
      <dsp:spPr>
        <a:xfrm>
          <a:off x="3373109" y="2903378"/>
          <a:ext cx="1034216" cy="1983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Knowledge</a:t>
          </a:r>
        </a:p>
      </dsp:txBody>
      <dsp:txXfrm>
        <a:off x="3373109" y="2903378"/>
        <a:ext cx="1034216" cy="198322"/>
      </dsp:txXfrm>
    </dsp:sp>
    <dsp:sp modelId="{BCDB4767-2284-4D92-A49B-62BAF6F50FB7}">
      <dsp:nvSpPr>
        <dsp:cNvPr id="0" name=""/>
        <dsp:cNvSpPr/>
      </dsp:nvSpPr>
      <dsp:spPr>
        <a:xfrm>
          <a:off x="4684977" y="2440625"/>
          <a:ext cx="1149129" cy="59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8395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Passive vs Active</a:t>
          </a:r>
        </a:p>
      </dsp:txBody>
      <dsp:txXfrm>
        <a:off x="4684977" y="2440625"/>
        <a:ext cx="1149129" cy="594968"/>
      </dsp:txXfrm>
    </dsp:sp>
    <dsp:sp modelId="{E05578A2-89EC-4912-87E5-275BB60296B3}">
      <dsp:nvSpPr>
        <dsp:cNvPr id="0" name=""/>
        <dsp:cNvSpPr/>
      </dsp:nvSpPr>
      <dsp:spPr>
        <a:xfrm>
          <a:off x="4914803" y="2903378"/>
          <a:ext cx="1034216" cy="1983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Motion Control</a:t>
          </a:r>
        </a:p>
      </dsp:txBody>
      <dsp:txXfrm>
        <a:off x="4914803" y="2903378"/>
        <a:ext cx="1034216" cy="1983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4d658b01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4d658b01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4d658b016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4d658b016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97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29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4d658b016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4d658b016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845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4710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2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2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5593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293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156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477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2857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2161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0850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4d658b016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4d658b016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916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85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1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31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83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4d658b016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4d658b016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4268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71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52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19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33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441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69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2181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58217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735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6720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00309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99498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724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3992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19649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9248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89807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0766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7269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19341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97964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93460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66383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11927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68915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7404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26007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16574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021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4d658b016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44d658b016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950800"/>
            <a:ext cx="8520600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07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61.pn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10" Type="http://schemas.openxmlformats.org/officeDocument/2006/relationships/image" Target="../media/image67.png"/><Relationship Id="rId9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962087" y="2504025"/>
            <a:ext cx="6020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lt1"/>
                </a:solidFill>
              </a:rPr>
              <a:t>AIML for Robotics</a:t>
            </a:r>
            <a:endParaRPr sz="3200" b="1" dirty="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962086" y="3104452"/>
            <a:ext cx="6355196" cy="703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Module 3</a:t>
            </a:r>
          </a:p>
          <a:p>
            <a:pPr marL="0" lvl="0" indent="0"/>
            <a:r>
              <a:rPr lang="en-IN" sz="1800" dirty="0">
                <a:solidFill>
                  <a:srgbClr val="FFC000"/>
                </a:solidFill>
              </a:rPr>
              <a:t>Localization</a:t>
            </a:r>
            <a:endParaRPr sz="1800" dirty="0">
              <a:solidFill>
                <a:srgbClr val="FFC000"/>
              </a:solidFill>
            </a:endParaRPr>
          </a:p>
        </p:txBody>
      </p:sp>
      <p:sp>
        <p:nvSpPr>
          <p:cNvPr id="6" name="Google Shape;57;p13"/>
          <p:cNvSpPr txBox="1"/>
          <p:nvPr/>
        </p:nvSpPr>
        <p:spPr>
          <a:xfrm>
            <a:off x="5429065" y="3678738"/>
            <a:ext cx="3389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Section Faculty: </a:t>
            </a:r>
          </a:p>
          <a:p>
            <a:pPr lvl="0" algn="r">
              <a:lnSpc>
                <a:spcPct val="150000"/>
              </a:lnSpc>
            </a:pPr>
            <a:r>
              <a:rPr lang="en-US" dirty="0">
                <a:solidFill>
                  <a:schemeClr val="lt1"/>
                </a:solidFill>
              </a:rPr>
              <a:t>Dr. </a:t>
            </a:r>
            <a:r>
              <a:rPr lang="en-US" dirty="0" err="1">
                <a:solidFill>
                  <a:schemeClr val="lt1"/>
                </a:solidFill>
              </a:rPr>
              <a:t>Sangeetha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Viswanathan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478844" y="1448675"/>
            <a:ext cx="5344866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>
              <a:lnSpc>
                <a:spcPct val="115000"/>
              </a:lnSpc>
              <a:spcAft>
                <a:spcPts val="1200"/>
              </a:spcAft>
            </a:pPr>
            <a:r>
              <a:rPr lang="en" sz="1800" dirty="0">
                <a:solidFill>
                  <a:schemeClr val="dk2"/>
                </a:solidFill>
              </a:rPr>
              <a:t>The course owner and the authors of this course deck, Prof. </a:t>
            </a:r>
            <a:r>
              <a:rPr lang="en-IN" sz="1800" dirty="0">
                <a:solidFill>
                  <a:schemeClr val="dk2"/>
                </a:solidFill>
              </a:rPr>
              <a:t>Raja vadhana and Dr.Sangeetha</a:t>
            </a:r>
            <a:r>
              <a:rPr lang="en" sz="1800" dirty="0">
                <a:solidFill>
                  <a:schemeClr val="dk2"/>
                </a:solidFill>
              </a:rPr>
              <a:t>, are gratefully acknowledging all authors who made their course materials freely available online.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</a:rPr>
              <a:t>Course Content</a:t>
            </a:r>
            <a:endParaRPr sz="2400" b="1" dirty="0">
              <a:solidFill>
                <a:srgbClr val="C00000"/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970107"/>
            <a:ext cx="4248108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sz="1800" dirty="0"/>
              <a:t>Introduction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400" dirty="0"/>
              <a:t>Types of Robots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Mobile Robots – Use case of Programmable solutions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1800" dirty="0"/>
              <a:t>Components of Programmable Robotic System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Perception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Representation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Motion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800" dirty="0"/>
              <a:t>Localization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Taxonomy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Types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endParaRPr sz="14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Google Shape;75;p16"/>
          <p:cNvSpPr txBox="1">
            <a:spLocks/>
          </p:cNvSpPr>
          <p:nvPr/>
        </p:nvSpPr>
        <p:spPr>
          <a:xfrm>
            <a:off x="5308896" y="970107"/>
            <a:ext cx="3835104" cy="3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Mapping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Feature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Grid Based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Path Planning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Graph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Sample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Evolutional Techniques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Human – Robot Interaction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Ethics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Introduction to Visual Bot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Introduction to Chat Bot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11700" y="3526972"/>
            <a:ext cx="3913632" cy="7924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Roadmap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8522208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map frame?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vs robot frame, and the translate + rotate math that bridges them.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" y="1645920"/>
            <a:ext cx="8522208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" y="164592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localization show up?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1993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 (Roomba, AMR, Mars rover) and software agents (cyber bots, RPA, crawlers).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" y="2377440"/>
            <a:ext cx="8522208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0896" y="237744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450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localization problem is it?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27249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four-axis taxonomy: static/dynamic, single/multi, local/global, passive/active.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" y="3108960"/>
            <a:ext cx="8522208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0896" y="310896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82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1821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grid-based localization work?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456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histogram filter end-to-end: predict step (motion) and update step (measurement).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" y="3840480"/>
            <a:ext cx="8522208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0896" y="384048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9136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AI/ML fit?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" y="4187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sensors, learned models, action recommendation. And when to switch to Monte Carlo.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202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914400"/>
            <a:ext cx="8522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am I?”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autonomous system — physical or digital — must answer this repeatedly, in real time, from noisy and incomplete information.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87752" cy="16916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4864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1638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the world — LIDAR, camera, packet, log.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2468880"/>
            <a:ext cx="2587752" cy="169164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2468880"/>
            <a:ext cx="54864" cy="16916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2578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1638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sensing into a belief about state.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2044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We are here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71616" y="2468880"/>
            <a:ext cx="2587752" cy="16916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2468880"/>
            <a:ext cx="54864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2578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36208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Planning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36208" y="31638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to do given that belief.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6983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Map Frame</a:t>
            </a:r>
            <a:endParaRPr sz="3200" b="1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355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0654"/>
            <a:ext cx="4181660" cy="383374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252847" y="2523009"/>
            <a:ext cx="1045029" cy="748146"/>
            <a:chOff x="5611091" y="3560617"/>
            <a:chExt cx="1045029" cy="748146"/>
          </a:xfrm>
        </p:grpSpPr>
        <p:sp>
          <p:nvSpPr>
            <p:cNvPr id="8" name="Smiley Face 7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882240" y="3271155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X=2,Y=3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833257" y="1184181"/>
            <a:ext cx="37620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Global Map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Range(r, o) = ~3.16 meters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935914" y="1580087"/>
                <a:ext cx="2201156" cy="1362424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13624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49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Map Frame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origin and axes everyone in the system agrees 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" y="914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landmarks, walls, and the robot's pose are expressed in one fixed coordinate system.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1417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pose:  </a:t>
            </a: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3),  θ = 45°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3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Landmark:    </a:t>
            </a: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3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Range:        </a:t>
            </a: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√8 ≈ 2.83 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" y="2377440"/>
            <a:ext cx="4023360" cy="178308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54864" cy="17830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frame is fixed. It does not know or care where the robot is — it is the reference the robot localizes against.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is picked at map-creation time (a warehouse corner, a lat-lon, etc.).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2461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79869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83480" y="1574074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76257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83480" y="1959429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72646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344783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69034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83480" y="2730137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65423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115491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61811" y="1188720"/>
            <a:ext cx="0" cy="269748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83480" y="3500846"/>
            <a:ext cx="34747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83480" y="3886200"/>
            <a:ext cx="347472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3886200"/>
            <a:ext cx="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49640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1005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7385" y="2278162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76257" y="2397034"/>
            <a:ext cx="347472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84817" y="253419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(2,3,45°)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77594" y="1312817"/>
            <a:ext cx="182880" cy="18288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78762" y="129452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(4,5)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76257" y="2397034"/>
            <a:ext cx="992777" cy="0"/>
          </a:xfrm>
          <a:prstGeom prst="line">
            <a:avLst/>
          </a:prstGeom>
          <a:noFill/>
          <a:ln w="12700">
            <a:solidFill>
              <a:srgbClr val="53606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2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Robot Frame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robot's own system — origin at itself, x-axis along its heading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" y="868680"/>
            <a:ext cx="8522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robot does — “move forward 1 m”, “scan at +30°”, “wall on my left” — is naturally expressed in this frame.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" y="1371600"/>
            <a:ext cx="4160520" cy="2788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" y="1371600"/>
            <a:ext cx="54864" cy="278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MAP FRAME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map says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at </a:t>
            </a:r>
            <a:r>
              <a:rPr lang="en-US" sz="10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 3), θ = 45°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at </a:t>
            </a:r>
            <a:r>
              <a:rPr lang="en-US" sz="10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(4, 5)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= fixed point on the map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along map north / east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is one object among many 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60520" cy="278892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54864" cy="2788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ROBOT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9744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robot sees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2057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at the </a:t>
            </a:r>
            <a:r>
              <a:rPr lang="en-US" sz="10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(0, 0)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x'-axis = direction it faces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y'-axis = 90° to the left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= </a:t>
            </a:r>
            <a:r>
              <a:rPr lang="en-US" sz="10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(2.83, 0) straight ahead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landmark, two valid coordinates.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6173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0654"/>
            <a:ext cx="4181660" cy="383374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249137" y="2540630"/>
            <a:ext cx="1045029" cy="748146"/>
            <a:chOff x="5611091" y="3560617"/>
            <a:chExt cx="1045029" cy="748146"/>
          </a:xfrm>
        </p:grpSpPr>
        <p:sp>
          <p:nvSpPr>
            <p:cNvPr id="12" name="Smiley Face 11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882239" y="3271155"/>
            <a:ext cx="7644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 trans="24000" grainSize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619096">
            <a:off x="93531" y="1314939"/>
            <a:ext cx="3002644" cy="3083708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19" name="Group 18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0" name="Smiley Face 19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3257" y="1184181"/>
            <a:ext cx="37620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Translate map point to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–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blipFill>
                <a:blip r:embed="rId8"/>
                <a:stretch>
                  <a:fillRect b="-8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𝑂𝑏𝑗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.83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/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11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75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1249137" y="2540630"/>
            <a:ext cx="1045029" cy="748146"/>
            <a:chOff x="5611091" y="3560617"/>
            <a:chExt cx="1045029" cy="748146"/>
          </a:xfrm>
        </p:grpSpPr>
        <p:sp>
          <p:nvSpPr>
            <p:cNvPr id="12" name="Smiley Face 11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97" y="-797106"/>
            <a:ext cx="4181660" cy="3833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82239" y="3271155"/>
            <a:ext cx="7644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 trans="24000" grainSize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619096">
            <a:off x="93531" y="1314939"/>
            <a:ext cx="3002644" cy="3083708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19" name="Group 18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0" name="Smiley Face 19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3257" y="1184181"/>
            <a:ext cx="37620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Translate map point to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–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blipFill>
                <a:blip r:embed="rId6"/>
                <a:stretch>
                  <a:fillRect b="-8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𝑂𝑏𝑗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.83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/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9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095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97" y="-767959"/>
            <a:ext cx="4181660" cy="3833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0" name="Smiley Face 19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3257" y="1184181"/>
            <a:ext cx="37620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Translate map point to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–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blipFill>
                <a:blip r:embed="rId4"/>
                <a:stretch>
                  <a:fillRect b="-8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𝑂𝑏𝑗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.83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/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7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96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746233">
            <a:off x="-262718" y="-1767029"/>
            <a:ext cx="4181660" cy="3833745"/>
          </a:xfrm>
          <a:prstGeom prst="rect">
            <a:avLst/>
          </a:prstGeom>
        </p:spPr>
      </p:pic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0" name="Smiley Face 19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3257" y="1184181"/>
            <a:ext cx="37620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Translate map point to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–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970971"/>
              </a:xfrm>
              <a:prstGeom prst="rect">
                <a:avLst/>
              </a:prstGeom>
              <a:blipFill>
                <a:blip r:embed="rId4"/>
                <a:stretch>
                  <a:fillRect b="-8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7" y="2986383"/>
                <a:ext cx="2277996" cy="711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𝑂𝑏𝑗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IN"/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IN"/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.83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/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079" y="4200999"/>
                <a:ext cx="4420634" cy="71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7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04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67" y="-923480"/>
            <a:ext cx="4181660" cy="3833745"/>
          </a:xfrm>
          <a:prstGeom prst="rect">
            <a:avLst/>
          </a:prstGeom>
        </p:spPr>
      </p:pic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/>
        </p:nvSpPr>
        <p:spPr>
          <a:xfrm>
            <a:off x="2742741" y="2538240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/>
          <p:cNvGrpSpPr/>
          <p:nvPr/>
        </p:nvGrpSpPr>
        <p:grpSpPr>
          <a:xfrm rot="12927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0" name="Smiley Face 19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3257" y="1184181"/>
            <a:ext cx="37620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.828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7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641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67" y="-923480"/>
            <a:ext cx="4181660" cy="3833745"/>
          </a:xfrm>
          <a:prstGeom prst="rect">
            <a:avLst/>
          </a:prstGeom>
        </p:spPr>
      </p:pic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7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ction Button: Home 17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7" name="Smiley Face 26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833257" y="1184181"/>
            <a:ext cx="37620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+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.828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425529" y="3078418"/>
                <a:ext cx="4519699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`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`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cos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sin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sin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cos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.838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529" y="3078418"/>
                <a:ext cx="4519699" cy="713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07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0654"/>
            <a:ext cx="4181660" cy="3833745"/>
          </a:xfrm>
          <a:prstGeom prst="rect">
            <a:avLst/>
          </a:prstGeom>
        </p:spPr>
      </p:pic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Frame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2530" y="1045637"/>
            <a:ext cx="587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X=4,Y=5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41763" y="2696454"/>
            <a:ext cx="831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X=2,</a:t>
            </a:r>
          </a:p>
          <a:p>
            <a:r>
              <a:rPr lang="en-US" b="1" dirty="0">
                <a:solidFill>
                  <a:srgbClr val="0070C0"/>
                </a:solidFill>
              </a:rPr>
              <a:t>Y=3,</a:t>
            </a:r>
          </a:p>
          <a:p>
            <a:r>
              <a:rPr lang="el-GR" b="1" dirty="0">
                <a:solidFill>
                  <a:srgbClr val="0070C0"/>
                </a:solidFill>
              </a:rPr>
              <a:t>Θ</a:t>
            </a:r>
            <a:r>
              <a:rPr lang="en-US" b="1" dirty="0">
                <a:solidFill>
                  <a:srgbClr val="0070C0"/>
                </a:solidFill>
              </a:rPr>
              <a:t> = 45</a:t>
            </a:r>
            <a:endParaRPr lang="en-IN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Rot(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/>
                      <m:t>θ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/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l-GR"/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46" y="508626"/>
                <a:ext cx="2352054" cy="1046953"/>
              </a:xfrm>
              <a:prstGeom prst="rect">
                <a:avLst/>
              </a:prstGeom>
              <a:blipFill>
                <a:blip r:embed="rId7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ction Button: Home 17">
            <a:hlinkClick r:id="" action="ppaction://hlinkshowjump?jump=firstslide" highlightClick="1"/>
          </p:cNvPr>
          <p:cNvSpPr/>
          <p:nvPr/>
        </p:nvSpPr>
        <p:spPr>
          <a:xfrm>
            <a:off x="2646719" y="1547171"/>
            <a:ext cx="616772" cy="581890"/>
          </a:xfrm>
          <a:prstGeom prst="actionButtonHome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/>
          <p:cNvGrpSpPr/>
          <p:nvPr/>
        </p:nvGrpSpPr>
        <p:grpSpPr>
          <a:xfrm rot="18759160">
            <a:off x="1184889" y="2318564"/>
            <a:ext cx="1045029" cy="748146"/>
            <a:chOff x="5611091" y="3560617"/>
            <a:chExt cx="1045029" cy="748146"/>
          </a:xfrm>
        </p:grpSpPr>
        <p:sp>
          <p:nvSpPr>
            <p:cNvPr id="27" name="Smiley Face 26"/>
            <p:cNvSpPr/>
            <p:nvPr/>
          </p:nvSpPr>
          <p:spPr>
            <a:xfrm rot="5400000">
              <a:off x="5611091" y="3560617"/>
              <a:ext cx="748146" cy="74814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240484" y="3834246"/>
              <a:ext cx="415636" cy="2008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833257" y="1184181"/>
            <a:ext cx="376204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Robot Frame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Rotate coordinates by +</a:t>
            </a:r>
            <a:r>
              <a:rPr lang="el-GR" dirty="0"/>
              <a:t>θ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Translate robot to map frame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solidFill>
                <a:schemeClr val="accent2">
                  <a:lumMod val="10000"/>
                  <a:lumOff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.828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14" y="1580087"/>
                <a:ext cx="2201156" cy="13647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502556" y="4077281"/>
                <a:ext cx="2410019" cy="7187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`+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`+ 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556" y="4077281"/>
                <a:ext cx="2410019" cy="7187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425529" y="3078418"/>
                <a:ext cx="4519699" cy="713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𝑂𝑏𝑗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`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`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cos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sin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sin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cos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.838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  <m:sub/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529" y="3078418"/>
                <a:ext cx="4519699" cy="713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4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8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8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Robot Localization</a:t>
            </a:r>
            <a:endParaRPr sz="3200" b="1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Oval 2"/>
          <p:cNvSpPr/>
          <p:nvPr/>
        </p:nvSpPr>
        <p:spPr>
          <a:xfrm>
            <a:off x="3976913" y="2844799"/>
            <a:ext cx="972457" cy="1582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Arrow 3"/>
          <p:cNvSpPr/>
          <p:nvPr/>
        </p:nvSpPr>
        <p:spPr>
          <a:xfrm>
            <a:off x="3599543" y="3251200"/>
            <a:ext cx="420914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6"/>
          <p:cNvSpPr/>
          <p:nvPr/>
        </p:nvSpPr>
        <p:spPr>
          <a:xfrm>
            <a:off x="3577771" y="3766456"/>
            <a:ext cx="420914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>
            <a:off x="4949370" y="3508619"/>
            <a:ext cx="420914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48512" y="3214146"/>
                <a:ext cx="2263247" cy="7264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512" y="3214146"/>
                <a:ext cx="2263247" cy="7264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044" y="3613670"/>
            <a:ext cx="946998" cy="9741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163" y="2526528"/>
            <a:ext cx="1576461" cy="1574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0058" y="3143503"/>
            <a:ext cx="154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Sensor Data : Z</a:t>
            </a:r>
            <a:r>
              <a:rPr lang="en-US" baseline="-25000" dirty="0"/>
              <a:t> t</a:t>
            </a: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390854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Localization — Formally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estimation problem, not a one-shot fix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868680"/>
            <a:ext cx="8522208" cy="86868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54864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is the problem of maintaining a probability distribution over the robot's pose, given a map, a sequence of control inputs, and a sequence of sensor measurements.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" y="2148840"/>
            <a:ext cx="374904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" y="214884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 (m)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478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 — 2D grid, point cloud, topological graph.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" y="2880360"/>
            <a:ext cx="374904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" y="288036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  (u₁:t)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209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inputs — wheel velocities, steering, accelerations.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" y="3611880"/>
            <a:ext cx="374904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0896" y="3611880"/>
            <a:ext cx="54864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  (z₁:t)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9410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readings — LIDAR, camera, IMU, GPS.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0520" y="2788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 filter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108960"/>
            <a:ext cx="1645920" cy="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60520" y="3154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+ update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932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148840"/>
            <a:ext cx="2834640" cy="141732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89320" y="2148840"/>
            <a:ext cx="54864" cy="1417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35624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bel(xₜ)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35624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— a probability distribution over all possible poses at time 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" y="461772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single number — a distribution. “I'm 70% sure I'm here, 25% over there, 5% scattered.”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27107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— Mobile Robots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= (x, y, θ). Sensors = LIDAR, camera, IMU, odometry, GPS.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AMR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itself in the pallet aisle.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8056" y="1536192"/>
            <a:ext cx="256032" cy="777240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" y="1719072"/>
            <a:ext cx="256032" cy="36576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" y="1947672"/>
            <a:ext cx="256032" cy="36576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51176" y="1536192"/>
            <a:ext cx="256032" cy="777240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51176" y="1719072"/>
            <a:ext cx="256032" cy="36576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53896" y="1947672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" y="2084832"/>
            <a:ext cx="64008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9125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91256" y="914400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Roomba / vacuum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which rooms it cleaned.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74136" y="1536192"/>
            <a:ext cx="2286000" cy="868680"/>
          </a:xfrm>
          <a:prstGeom prst="rect">
            <a:avLst/>
          </a:prstGeom>
          <a:solidFill>
            <a:srgbClr val="EAF2F6"/>
          </a:solidFill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79976" y="1536192"/>
            <a:ext cx="0" cy="502920"/>
          </a:xfrm>
          <a:prstGeom prst="line">
            <a:avLst/>
          </a:prstGeom>
          <a:noFill/>
          <a:ln w="1270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94176" y="2039112"/>
            <a:ext cx="256032" cy="256032"/>
          </a:xfrm>
          <a:prstGeom prst="ellipse">
            <a:avLst/>
          </a:prstGeom>
          <a:solidFill>
            <a:srgbClr val="D85A30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77256" y="2267712"/>
            <a:ext cx="164592" cy="109728"/>
          </a:xfrm>
          <a:prstGeom prst="rect">
            <a:avLst/>
          </a:prstGeom>
          <a:solidFill>
            <a:srgbClr val="3B6D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7161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71616" y="914400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0877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877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Lane-level pose vs HD map.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4496" y="1764792"/>
            <a:ext cx="2286000" cy="594360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45936" y="2039112"/>
            <a:ext cx="182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03136" y="2039112"/>
            <a:ext cx="182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60336" y="2039112"/>
            <a:ext cx="182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17536" y="2039112"/>
            <a:ext cx="182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74736" y="2039112"/>
            <a:ext cx="182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77456" y="2130552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51776" y="2084832"/>
            <a:ext cx="0" cy="0"/>
          </a:xfrm>
          <a:prstGeom prst="line">
            <a:avLst/>
          </a:prstGeom>
          <a:noFill/>
          <a:ln w="762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51776" y="2084832"/>
            <a:ext cx="0" cy="0"/>
          </a:xfrm>
          <a:prstGeom prst="line">
            <a:avLst/>
          </a:prstGeom>
          <a:noFill/>
          <a:ln w="762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51776" y="2084832"/>
            <a:ext cx="457200" cy="0"/>
          </a:xfrm>
          <a:prstGeom prst="line">
            <a:avLst/>
          </a:prstGeom>
          <a:noFill/>
          <a:ln w="762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089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0896" y="2578608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805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rover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4805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Visual-inertial pose, no GPS.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3776" y="3840480"/>
            <a:ext cx="2286000" cy="228600"/>
          </a:xfrm>
          <a:prstGeom prst="rect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6656" y="3767328"/>
            <a:ext cx="128016" cy="9144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316736" y="3493008"/>
            <a:ext cx="548640" cy="256032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591056" y="3493008"/>
            <a:ext cx="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517904" y="3200400"/>
            <a:ext cx="146304" cy="91440"/>
          </a:xfrm>
          <a:prstGeom prst="rect">
            <a:avLst/>
          </a:prstGeom>
          <a:solidFill>
            <a:srgbClr val="065A82"/>
          </a:solidFill>
          <a:ln w="762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335024" y="3712464"/>
            <a:ext cx="128016" cy="12801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554480" y="3712464"/>
            <a:ext cx="128016" cy="12801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73936" y="3712464"/>
            <a:ext cx="128016" cy="12801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0936" y="3218688"/>
            <a:ext cx="201168" cy="20116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19125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191256" y="2578608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2841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drone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32841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Geo-pose for last-100m landing.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42816" y="3246120"/>
            <a:ext cx="457200" cy="109728"/>
          </a:xfrm>
          <a:prstGeom prst="rect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105656" y="3246120"/>
            <a:ext cx="274320" cy="0"/>
          </a:xfrm>
          <a:prstGeom prst="line">
            <a:avLst/>
          </a:prstGeom>
          <a:noFill/>
          <a:ln w="12700">
            <a:solidFill>
              <a:srgbClr val="1F2A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62856" y="3246120"/>
            <a:ext cx="274320" cy="0"/>
          </a:xfrm>
          <a:prstGeom prst="line">
            <a:avLst/>
          </a:prstGeom>
          <a:noFill/>
          <a:ln w="12700">
            <a:solidFill>
              <a:srgbClr val="1F2A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069080" y="3200400"/>
            <a:ext cx="73152" cy="7315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00600" y="3200400"/>
            <a:ext cx="73152" cy="7315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471416" y="3355848"/>
            <a:ext cx="0" cy="457200"/>
          </a:xfrm>
          <a:prstGeom prst="line">
            <a:avLst/>
          </a:prstGeom>
          <a:noFill/>
          <a:ln w="7620">
            <a:solidFill>
              <a:srgbClr val="EF9F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471416" y="3355848"/>
            <a:ext cx="182880" cy="457200"/>
          </a:xfrm>
          <a:prstGeom prst="line">
            <a:avLst/>
          </a:prstGeom>
          <a:noFill/>
          <a:ln w="7620">
            <a:solidFill>
              <a:srgbClr val="EF9F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105656" y="3813048"/>
            <a:ext cx="731520" cy="256032"/>
          </a:xfrm>
          <a:prstGeom prst="rect">
            <a:avLst/>
          </a:prstGeom>
          <a:solidFill>
            <a:srgbClr val="EAF2F6"/>
          </a:solidFill>
          <a:ln w="9525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105656" y="3813048"/>
            <a:ext cx="365760" cy="0"/>
          </a:xfrm>
          <a:prstGeom prst="line">
            <a:avLst/>
          </a:prstGeom>
          <a:noFill/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471416" y="3611880"/>
            <a:ext cx="365760" cy="201168"/>
          </a:xfrm>
          <a:prstGeom prst="line">
            <a:avLst/>
          </a:prstGeom>
          <a:noFill/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07161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71616" y="2578608"/>
            <a:ext cx="54864" cy="1572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0877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robot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20877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Tool-tip pose vs anatomy.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345936" y="36576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EAF2F6"/>
          </a:solidFill>
          <a:ln w="9525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397496" y="3218688"/>
            <a:ext cx="0" cy="457200"/>
          </a:xfrm>
          <a:prstGeom prst="line">
            <a:avLst/>
          </a:prstGeom>
          <a:noFill/>
          <a:ln w="2540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397496" y="3675888"/>
            <a:ext cx="0" cy="292608"/>
          </a:xfrm>
          <a:prstGeom prst="line">
            <a:avLst/>
          </a:prstGeom>
          <a:noFill/>
          <a:ln w="2540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342632" y="3163824"/>
            <a:ext cx="109728" cy="109728"/>
          </a:xfrm>
          <a:prstGeom prst="ellipse">
            <a:avLst/>
          </a:prstGeom>
          <a:solidFill>
            <a:srgbClr val="1F2A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986016" y="3895344"/>
            <a:ext cx="146304" cy="14630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4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— Software Agents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= (host, subnet, privilege). “Sensors” = packets, syscalls, logs.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Pen-test bot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Locates itself in the net graph.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68096" y="2039112"/>
            <a:ext cx="640080" cy="0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08176" y="1673352"/>
            <a:ext cx="640080" cy="548640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48256" y="2221992"/>
            <a:ext cx="594360" cy="0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2039112"/>
            <a:ext cx="1280160" cy="182880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7512" y="1938528"/>
            <a:ext cx="201168" cy="201168"/>
          </a:xfrm>
          <a:prstGeom prst="ellipse">
            <a:avLst/>
          </a:prstGeom>
          <a:solidFill>
            <a:srgbClr val="EAF2F6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07592" y="1572768"/>
            <a:ext cx="201168" cy="201168"/>
          </a:xfrm>
          <a:prstGeom prst="ellipse">
            <a:avLst/>
          </a:prstGeom>
          <a:solidFill>
            <a:srgbClr val="EAF2F6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47672" y="2121408"/>
            <a:ext cx="201168" cy="201168"/>
          </a:xfrm>
          <a:prstGeom prst="ellipse">
            <a:avLst/>
          </a:prstGeom>
          <a:solidFill>
            <a:srgbClr val="D85A30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42032" y="1801368"/>
            <a:ext cx="201168" cy="201168"/>
          </a:xfrm>
          <a:prstGeom prst="ellipse">
            <a:avLst/>
          </a:prstGeom>
          <a:solidFill>
            <a:srgbClr val="EAF2F6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99616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9125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91256" y="914400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2841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Threat-hunter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2841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Pinpoints attacker's stage.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74136" y="1810512"/>
            <a:ext cx="566928" cy="310896"/>
          </a:xfrm>
          <a:prstGeom prst="rect">
            <a:avLst/>
          </a:prstGeom>
          <a:solidFill>
            <a:srgbClr val="EAF2F6"/>
          </a:solidFill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74136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977640" y="1810512"/>
            <a:ext cx="566928" cy="310896"/>
          </a:xfrm>
          <a:prstGeom prst="rect">
            <a:avLst/>
          </a:prstGeom>
          <a:solidFill>
            <a:srgbClr val="EAF2F6"/>
          </a:solidFill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77640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81144" y="1810512"/>
            <a:ext cx="566928" cy="310896"/>
          </a:xfrm>
          <a:prstGeom prst="rect">
            <a:avLst/>
          </a:prstGeom>
          <a:solidFill>
            <a:srgbClr val="D85A30"/>
          </a:solidFill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84648" y="1810512"/>
            <a:ext cx="566928" cy="310896"/>
          </a:xfrm>
          <a:prstGeom prst="rect">
            <a:avLst/>
          </a:prstGeom>
          <a:solidFill>
            <a:srgbClr val="EAF2F6"/>
          </a:solidFill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84648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48456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is here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17136" y="1737360"/>
            <a:ext cx="0" cy="73152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71616" y="914400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71616" y="914400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8776" y="978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 bot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08776" y="1188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kill-chain stage.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60336" y="1554480"/>
            <a:ext cx="219456" cy="219456"/>
          </a:xfrm>
          <a:prstGeom prst="ellipse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70064" y="1773936"/>
            <a:ext cx="0" cy="292608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70064" y="1773936"/>
            <a:ext cx="365760" cy="292608"/>
          </a:xfrm>
          <a:prstGeom prst="line">
            <a:avLst/>
          </a:prstGeom>
          <a:noFill/>
          <a:ln w="762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94576" y="2066544"/>
            <a:ext cx="219456" cy="219456"/>
          </a:xfrm>
          <a:prstGeom prst="ellipse">
            <a:avLst/>
          </a:prstGeom>
          <a:solidFill>
            <a:srgbClr val="EAF2F6"/>
          </a:solidFill>
          <a:ln w="952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26096" y="2066544"/>
            <a:ext cx="219456" cy="219456"/>
          </a:xfrm>
          <a:prstGeom prst="ellipse">
            <a:avLst/>
          </a:prstGeom>
          <a:solidFill>
            <a:srgbClr val="D85A30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00416" y="2084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step?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089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0896" y="2578608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805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crawler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4805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position in the site graph.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453896" y="3218688"/>
            <a:ext cx="365760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53896" y="32369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36776" y="3419856"/>
            <a:ext cx="0" cy="274320"/>
          </a:xfrm>
          <a:prstGeom prst="line">
            <a:avLst/>
          </a:prstGeom>
          <a:noFill/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13816" y="3694176"/>
            <a:ext cx="329184" cy="18288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13816" y="3703320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36776" y="3419856"/>
            <a:ext cx="0" cy="274320"/>
          </a:xfrm>
          <a:prstGeom prst="line">
            <a:avLst/>
          </a:prstGeom>
          <a:noFill/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08176" y="3694176"/>
            <a:ext cx="329184" cy="182880"/>
          </a:xfrm>
          <a:prstGeom prst="rect">
            <a:avLst/>
          </a:prstGeom>
          <a:solidFill>
            <a:srgbClr val="D85A30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408176" y="3703320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/blog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636776" y="3419856"/>
            <a:ext cx="530352" cy="274320"/>
          </a:xfrm>
          <a:prstGeom prst="line">
            <a:avLst/>
          </a:prstGeom>
          <a:noFill/>
          <a:ln w="6350">
            <a:solidFill>
              <a:srgbClr val="53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002536" y="3694176"/>
            <a:ext cx="329184" cy="18288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002536" y="3703320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5216" y="3913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is here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9125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191256" y="2578608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2841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bot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32841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place in a workflow.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355848" y="3401568"/>
            <a:ext cx="512064" cy="36576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392424" y="3456432"/>
            <a:ext cx="438912" cy="36576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392424" y="3529584"/>
            <a:ext cx="329184" cy="27432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904488" y="3401568"/>
            <a:ext cx="512064" cy="36576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941064" y="3456432"/>
            <a:ext cx="438912" cy="36576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941064" y="3529584"/>
            <a:ext cx="329184" cy="27432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453128" y="3401568"/>
            <a:ext cx="512064" cy="365760"/>
          </a:xfrm>
          <a:prstGeom prst="rect">
            <a:avLst/>
          </a:prstGeom>
          <a:solidFill>
            <a:srgbClr val="D85A30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489704" y="3456432"/>
            <a:ext cx="43891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489704" y="3529584"/>
            <a:ext cx="329184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001768" y="3401568"/>
            <a:ext cx="512064" cy="36576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038344" y="3456432"/>
            <a:ext cx="438912" cy="36576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038344" y="3529584"/>
            <a:ext cx="329184" cy="27432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355848" y="3858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4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071616" y="2578608"/>
            <a:ext cx="2761488" cy="1572768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71616" y="2578608"/>
            <a:ext cx="54864" cy="15727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208776" y="26426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NPC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6208776" y="28529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in a virtual world.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391656" y="3218688"/>
            <a:ext cx="2103120" cy="822960"/>
          </a:xfrm>
          <a:prstGeom prst="rect">
            <a:avLst/>
          </a:prstGeom>
          <a:solidFill>
            <a:srgbClr val="EAF2F6"/>
          </a:solidFill>
          <a:ln w="63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742176" y="3218688"/>
            <a:ext cx="0" cy="82296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092696" y="3218688"/>
            <a:ext cx="0" cy="82296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443216" y="3218688"/>
            <a:ext cx="0" cy="82296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793736" y="3218688"/>
            <a:ext cx="0" cy="82296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144256" y="3218688"/>
            <a:ext cx="0" cy="82296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391656" y="3493008"/>
            <a:ext cx="21031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391656" y="3767328"/>
            <a:ext cx="2103120" cy="0"/>
          </a:xfrm>
          <a:prstGeom prst="line">
            <a:avLst/>
          </a:prstGeom>
          <a:noFill/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031736" y="3493008"/>
            <a:ext cx="320040" cy="274320"/>
          </a:xfrm>
          <a:prstGeom prst="rect">
            <a:avLst/>
          </a:prstGeom>
          <a:solidFill>
            <a:srgbClr val="5360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763256" y="3675888"/>
            <a:ext cx="201168" cy="201168"/>
          </a:xfrm>
          <a:prstGeom prst="ellipse">
            <a:avLst/>
          </a:prstGeom>
          <a:solidFill>
            <a:srgbClr val="D85A30"/>
          </a:solidFill>
          <a:ln w="508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174736" y="3355848"/>
            <a:ext cx="164592" cy="164592"/>
          </a:xfrm>
          <a:prstGeom prst="ellipse">
            <a:avLst/>
          </a:prstGeom>
          <a:solidFill>
            <a:srgbClr val="065A82"/>
          </a:solidFill>
          <a:ln w="508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854696" y="3767328"/>
            <a:ext cx="384048" cy="0"/>
          </a:xfrm>
          <a:prstGeom prst="line">
            <a:avLst/>
          </a:prstGeom>
          <a:noFill/>
          <a:ln w="9525">
            <a:solidFill>
              <a:srgbClr val="D85A3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32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Bayes-Filter Pattern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or digital, the math is the same — only the state changes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868680"/>
            <a:ext cx="8522208" cy="100584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868680"/>
            <a:ext cx="54864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BAYES-FILTER PATTERN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bel(xₜ) = η · p(zₜ | xₜ) · ∫ p(xₜ | uₜ, xₜ₋₁) · bel(xₜ₋₁) dxₜ₋₁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(motion) → Update (measurement) → Normalize → Loop.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" y="2011680"/>
            <a:ext cx="8522208" cy="292608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(mobile robot)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06440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(software agent)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2304288"/>
            <a:ext cx="8522208" cy="420624"/>
          </a:xfrm>
          <a:prstGeom prst="rect">
            <a:avLst/>
          </a:prstGeom>
          <a:solidFill>
            <a:srgbClr val="F4F6F8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14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(xₜ)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24140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Pose: (x, y, θ)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24140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position: (host, subnet, privilege)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" y="2724912"/>
            <a:ext cx="85222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(uₜ)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2834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forward 1 m, turn 30°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file, sudo, click button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" y="3145536"/>
            <a:ext cx="8522208" cy="420624"/>
          </a:xfrm>
          <a:prstGeom prst="rect">
            <a:avLst/>
          </a:prstGeom>
          <a:solidFill>
            <a:srgbClr val="F4F6F8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255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(zₜ)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2552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ranges, image, IMU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255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capture, log line, API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" y="3566160"/>
            <a:ext cx="85222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6758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3675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pose (xg, yg)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3675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asset (DB server, admin shell)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" y="4032504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am I?” is the same question. The substrate changes; the algorithm doesn't.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72456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</a:rPr>
              <a:t>Taxonomy of Localization Problems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06186775"/>
              </p:ext>
            </p:extLst>
          </p:nvPr>
        </p:nvGraphicFramePr>
        <p:xfrm>
          <a:off x="0" y="-435429"/>
          <a:ext cx="6008915" cy="4603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6545" y="2787422"/>
            <a:ext cx="1770095" cy="923715"/>
          </a:xfrm>
          <a:prstGeom prst="rect">
            <a:avLst/>
          </a:prstGeom>
        </p:spPr>
      </p:pic>
      <p:pic>
        <p:nvPicPr>
          <p:cNvPr id="7" name="Google Shape;536;p28" title="Screenshot 2025-04-23 at 11.13.31 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57235" y="3820138"/>
            <a:ext cx="1817024" cy="108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0615" y="575023"/>
            <a:ext cx="2722595" cy="23049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966058"/>
            <a:ext cx="487038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Varying Features of the Environment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Knowledge of Initial 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of Uncertainty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Recovery from Failures : Kidnapped Robot Problem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Necessity for Real time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67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Axes of Localization Problems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side on each axis — the combination tells you which algorithm applies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" y="1005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00200" y="914400"/>
            <a:ext cx="35204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914400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987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2435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 and landmarks don't move.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38928" y="1143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3255264" cy="713232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54864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243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vehicles, objects move.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" y="179222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1700784"/>
            <a:ext cx="35204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00200" y="1700784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7360" y="17739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robot, one belief.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38928" y="19293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700784"/>
            <a:ext cx="3255264" cy="713232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1700784"/>
            <a:ext cx="54864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0" y="17739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2029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share or compete for a map.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" y="25786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00200" y="2487168"/>
            <a:ext cx="35204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00200" y="2487168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(tracking)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2816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roughly where we started.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8928" y="2715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2487168"/>
            <a:ext cx="3255264" cy="713232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77840" y="2487168"/>
            <a:ext cx="54864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15000" y="2560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(kidnapped)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2816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initial pose — could be anywhere.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0896" y="33649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Control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00200" y="3273552"/>
            <a:ext cx="35204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00200" y="3273552"/>
            <a:ext cx="54864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737360" y="33467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37360" y="3602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from whatever motion happens.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38928" y="35021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273552"/>
            <a:ext cx="3255264" cy="713232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77840" y="3273552"/>
            <a:ext cx="54864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15000" y="3346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36027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 purpose to cut uncertainty.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0896" y="4114800"/>
            <a:ext cx="8522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Roomba in a quiet room is STATIC · SINGLE · LOCAL · PASSIVE → textbook grid filter works.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88654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 — Static vs Dynamic Environment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anything in the map move while the robot localizes?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4160520" cy="292608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features don't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Walls, landmarks and obstacles are fixed across the localization window.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Roomba in an empty room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AMR after hours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rover (Mars doesn't move)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292608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54864" cy="2926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change over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walk through, vehicles move, the attacker pivots between hosts.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1184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 in traffic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robot in an airport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Threat-hunter chasing a target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20978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 — Single vs Multiple Agents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localizing one entity, or many that can share information?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4160520" cy="292608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robot, one belief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information comes from this robot's own sensors and motion history.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Roomba in a house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Mars rover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pen-test bot on a target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292608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54864" cy="2926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robots, shared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observe each other and share beliefs — cooperative localization.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1184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fleet (Amazon, Ocado)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swarm in search &amp; rescue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vehicles (V2V)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" y="3977640"/>
            <a:ext cx="8522208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" y="3977640"/>
            <a:ext cx="54864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belief grows exponentially with the number of agents — needs decentralized algorithms.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958748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3 — Local vs Global Knowledge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 we know the initial pose? Can we recover if moved?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4160520" cy="292608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(tracking)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where we started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is a tight unimodal distribution; the filter tracks small corrections.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Roomba returning to dock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keeping in a car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tracking from a zero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292608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54864" cy="2926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(kidnapped)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anywhere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starts uniform — every cell equally likely; converge from scratch.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1184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Roomba just turned 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picked up and moved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dropped in unknown subnet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" y="3977640"/>
            <a:ext cx="8522208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" y="3977640"/>
            <a:ext cx="54864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KIDNAPPED-ROBOT PROBLEM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robot is teleported. Grid filters keep mass everywhere and can recover; pure Kalman filters collapse to one mode and stay wrong.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470587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4 — Passive vs Active Localization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choose motions to help ourselves localize?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4160520" cy="292608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from whatever happens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is dictated by the task; the filter just reads u and z.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Roomba runs its clean pattern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drives the chosen route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follows existing links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2926080"/>
          </a:xfrm>
          <a:prstGeom prst="rect">
            <a:avLst/>
          </a:prstGeom>
          <a:solidFill>
            <a:srgbClr val="EAF2F6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54864" cy="2926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reduce uncertainty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action with the most expected information gain — go disambiguate.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1184" y="2505456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to a corner to break symmetry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Rover picks informative viewpoint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scanning to ID the 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" y="3977640"/>
            <a:ext cx="8522208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" y="3977640"/>
            <a:ext cx="54864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RL SHINES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localization learns a policy that minimises belief entropy — a major entry point for reinforcement learning.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123020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AI/ML Lives Inside Localization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entry points into the classical Bayes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8522208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classical struggles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0" y="969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AI/ML helps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" y="1225296"/>
            <a:ext cx="8522208" cy="585216"/>
          </a:xfrm>
          <a:prstGeom prst="rect">
            <a:avLst/>
          </a:prstGeom>
          <a:solidFill>
            <a:srgbClr val="F4F6F8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 model p(xₜ|uₜ,xₜ₋₁)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3167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Wheels slip, terrain varies.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31673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noise from telemetry (GP regression).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" y="1810512"/>
            <a:ext cx="852220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 model p(zₜ|xₜ)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9019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responses non-Gaussian.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90195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likelihood — CNN(image, pose) → score.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" y="2395728"/>
            <a:ext cx="8522208" cy="585216"/>
          </a:xfrm>
          <a:prstGeom prst="rect">
            <a:avLst/>
          </a:prstGeom>
          <a:solidFill>
            <a:srgbClr val="F4F6F8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48716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representation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4871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Hand-built maps go stale.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48716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features (SuperPoint); NeRF / occupancy fields.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" y="2980944"/>
            <a:ext cx="852220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072384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estimator itself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072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distributions are weird.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0723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DeepKF / deep variational filters learn the update.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" y="3566160"/>
            <a:ext cx="8522208" cy="585216"/>
          </a:xfrm>
          <a:prstGeom prst="rect">
            <a:avLst/>
          </a:prstGeom>
          <a:solidFill>
            <a:srgbClr val="F4F6F8"/>
          </a:solidFill>
          <a:ln w="381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6576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control policy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57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Hand-tuned heuristics fall short.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— reward = information gain.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" y="4197096"/>
            <a:ext cx="8522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wins where the analytical model breaks down — unmodellable terrain, non-Gaussian sensors.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60064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Discrete Bayes Filters</a:t>
            </a:r>
            <a:endParaRPr sz="2400" dirty="0">
              <a:solidFill>
                <a:srgbClr val="C0000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11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sz="2400" dirty="0">
                <a:solidFill>
                  <a:srgbClr val="C00000"/>
                </a:solidFill>
              </a:rPr>
              <a:t>Recursive State Estimation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1800" dirty="0">
                <a:solidFill>
                  <a:srgbClr val="0070C0"/>
                </a:solidFill>
              </a:rPr>
              <a:t>Bayes Filter Algorithm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255" name="Google Shape;255;p42"/>
          <p:cNvSpPr txBox="1">
            <a:spLocks noGrp="1"/>
          </p:cNvSpPr>
          <p:nvPr>
            <p:ph type="body" idx="1"/>
          </p:nvPr>
        </p:nvSpPr>
        <p:spPr>
          <a:xfrm>
            <a:off x="311700" y="950800"/>
            <a:ext cx="4341732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Initial Belief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Control Update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Measurement Update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16" y="2656974"/>
            <a:ext cx="3657600" cy="225742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235130" y="567897"/>
          <a:ext cx="1492386" cy="976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77986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325566">
                <a:tc>
                  <a:txBody>
                    <a:bodyPr/>
                    <a:lstStyle/>
                    <a:p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325566">
                <a:tc>
                  <a:txBody>
                    <a:bodyPr/>
                    <a:lstStyle/>
                    <a:p>
                      <a:r>
                        <a:rPr lang="en-US" sz="1050" dirty="0" err="1"/>
                        <a:t>is_open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325566">
                <a:tc>
                  <a:txBody>
                    <a:bodyPr/>
                    <a:lstStyle/>
                    <a:p>
                      <a:r>
                        <a:rPr lang="en-US" sz="1050" dirty="0" err="1"/>
                        <a:t>Is_closed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0.5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42862" y="567897"/>
          <a:ext cx="3505592" cy="169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2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915993">
                  <a:extLst>
                    <a:ext uri="{9D8B030D-6E8A-4147-A177-3AD203B41FA5}">
                      <a16:colId xmlns:a16="http://schemas.microsoft.com/office/drawing/2014/main" val="2783897073"/>
                    </a:ext>
                  </a:extLst>
                </a:gridCol>
                <a:gridCol w="884673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928700">
                  <a:extLst>
                    <a:ext uri="{9D8B030D-6E8A-4147-A177-3AD203B41FA5}">
                      <a16:colId xmlns:a16="http://schemas.microsoft.com/office/drawing/2014/main" val="2734093231"/>
                    </a:ext>
                  </a:extLst>
                </a:gridCol>
              </a:tblGrid>
              <a:tr h="49478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t-1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 err="1"/>
                        <a:t>U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US" sz="1050" baseline="-25000" dirty="0"/>
                    </a:p>
                    <a:p>
                      <a:pPr algn="ctr"/>
                      <a:r>
                        <a:rPr lang="en-US" sz="1050" dirty="0"/>
                        <a:t>=</a:t>
                      </a:r>
                      <a:r>
                        <a:rPr lang="en-US" sz="1050" dirty="0" err="1"/>
                        <a:t>is_open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US" sz="1050" baseline="-25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/>
                        <a:t>=</a:t>
                      </a:r>
                      <a:r>
                        <a:rPr lang="en-US" sz="1050" dirty="0" err="1"/>
                        <a:t>is_closed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  <a:p>
                      <a:pPr algn="ctr"/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812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is_open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push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812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Is_closed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Push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0.8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812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is_open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do_nothing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426679"/>
                  </a:ext>
                </a:extLst>
              </a:tr>
              <a:tr h="2812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Is_closed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 err="1"/>
                        <a:t>do_nothing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42903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52836" y="1633328"/>
          <a:ext cx="2691164" cy="107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260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886920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963984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</a:tblGrid>
              <a:tr h="263319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= </a:t>
                      </a:r>
                      <a:r>
                        <a:rPr lang="en-US" sz="1050" baseline="-25000" dirty="0" err="1"/>
                        <a:t>sense_open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= </a:t>
                      </a:r>
                      <a:r>
                        <a:rPr lang="en-US" sz="1050" baseline="-25000" dirty="0" err="1"/>
                        <a:t>sense_closed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  <a:p>
                      <a:pPr algn="ctr"/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3393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is_open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0.6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0.4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3393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Is_closed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0.8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847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25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4" y="0"/>
            <a:ext cx="7715250" cy="5143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99" y="1682044"/>
            <a:ext cx="3260689" cy="15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2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68932"/>
              </p:ext>
            </p:extLst>
          </p:nvPr>
        </p:nvGraphicFramePr>
        <p:xfrm>
          <a:off x="4494997" y="1807442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X=5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X=20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026" name="Picture 2" descr="How to Draw R2-D2 from Star War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44" y="2020924"/>
            <a:ext cx="595196" cy="6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1696"/>
              </p:ext>
            </p:extLst>
          </p:nvPr>
        </p:nvGraphicFramePr>
        <p:xfrm>
          <a:off x="7064194" y="540517"/>
          <a:ext cx="100409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8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27209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5581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421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238315"/>
              </p:ext>
            </p:extLst>
          </p:nvPr>
        </p:nvGraphicFramePr>
        <p:xfrm>
          <a:off x="5677451" y="2694285"/>
          <a:ext cx="3351046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686117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  <a:gridCol w="774852">
                  <a:extLst>
                    <a:ext uri="{9D8B030D-6E8A-4147-A177-3AD203B41FA5}">
                      <a16:colId xmlns:a16="http://schemas.microsoft.com/office/drawing/2014/main" val="3678583593"/>
                    </a:ext>
                  </a:extLst>
                </a:gridCol>
              </a:tblGrid>
              <a:tr h="19261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=10)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=20)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5481" y="3189089"/>
            <a:ext cx="2139516" cy="16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68932"/>
              </p:ext>
            </p:extLst>
          </p:nvPr>
        </p:nvGraphicFramePr>
        <p:xfrm>
          <a:off x="4494997" y="1807442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X=5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X=20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026" name="Picture 2" descr="How to Draw R2-D2 from Star War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44" y="2020924"/>
            <a:ext cx="595196" cy="6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1696"/>
              </p:ext>
            </p:extLst>
          </p:nvPr>
        </p:nvGraphicFramePr>
        <p:xfrm>
          <a:off x="7064194" y="540517"/>
          <a:ext cx="100409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8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27209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5581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421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27275"/>
              </p:ext>
            </p:extLst>
          </p:nvPr>
        </p:nvGraphicFramePr>
        <p:xfrm>
          <a:off x="5866687" y="540517"/>
          <a:ext cx="1129347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19261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2672" y="3149623"/>
            <a:ext cx="29838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 Step: </a:t>
            </a:r>
          </a:p>
          <a:p>
            <a:r>
              <a:rPr lang="en-US" dirty="0"/>
              <a:t>(Motion)</a:t>
            </a:r>
          </a:p>
          <a:p>
            <a:r>
              <a:rPr lang="en-US" dirty="0"/>
              <a:t>Update Step: </a:t>
            </a:r>
          </a:p>
          <a:p>
            <a:r>
              <a:rPr lang="en-US" dirty="0"/>
              <a:t>(Measurement)</a:t>
            </a:r>
          </a:p>
          <a:p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408580"/>
              </p:ext>
            </p:extLst>
          </p:nvPr>
        </p:nvGraphicFramePr>
        <p:xfrm>
          <a:off x="5092859" y="2726451"/>
          <a:ext cx="3942669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1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390716">
                  <a:extLst>
                    <a:ext uri="{9D8B030D-6E8A-4147-A177-3AD203B41FA5}">
                      <a16:colId xmlns:a16="http://schemas.microsoft.com/office/drawing/2014/main" val="1073746007"/>
                    </a:ext>
                  </a:extLst>
                </a:gridCol>
                <a:gridCol w="727252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  <a:gridCol w="821307">
                  <a:extLst>
                    <a:ext uri="{9D8B030D-6E8A-4147-A177-3AD203B41FA5}">
                      <a16:colId xmlns:a16="http://schemas.microsoft.com/office/drawing/2014/main" val="3678583593"/>
                    </a:ext>
                  </a:extLst>
                </a:gridCol>
              </a:tblGrid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t-1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 err="1"/>
                        <a:t>U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=10)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=20)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5481" y="3189089"/>
            <a:ext cx="2139516" cy="16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9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68932"/>
              </p:ext>
            </p:extLst>
          </p:nvPr>
        </p:nvGraphicFramePr>
        <p:xfrm>
          <a:off x="4494997" y="1807442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X=5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X=20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026" name="Picture 2" descr="How to Draw R2-D2 from Star War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44" y="2020924"/>
            <a:ext cx="595196" cy="6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1696"/>
              </p:ext>
            </p:extLst>
          </p:nvPr>
        </p:nvGraphicFramePr>
        <p:xfrm>
          <a:off x="7064194" y="540517"/>
          <a:ext cx="100409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8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27209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5581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421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27275"/>
              </p:ext>
            </p:extLst>
          </p:nvPr>
        </p:nvGraphicFramePr>
        <p:xfrm>
          <a:off x="5866687" y="540517"/>
          <a:ext cx="1129347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19261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2672" y="3149623"/>
            <a:ext cx="2983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 Step:</a:t>
            </a:r>
          </a:p>
          <a:p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408580"/>
              </p:ext>
            </p:extLst>
          </p:nvPr>
        </p:nvGraphicFramePr>
        <p:xfrm>
          <a:off x="5092859" y="2726451"/>
          <a:ext cx="3942669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1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390716">
                  <a:extLst>
                    <a:ext uri="{9D8B030D-6E8A-4147-A177-3AD203B41FA5}">
                      <a16:colId xmlns:a16="http://schemas.microsoft.com/office/drawing/2014/main" val="1073746007"/>
                    </a:ext>
                  </a:extLst>
                </a:gridCol>
                <a:gridCol w="727252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  <a:gridCol w="821307">
                  <a:extLst>
                    <a:ext uri="{9D8B030D-6E8A-4147-A177-3AD203B41FA5}">
                      <a16:colId xmlns:a16="http://schemas.microsoft.com/office/drawing/2014/main" val="3678583593"/>
                    </a:ext>
                  </a:extLst>
                </a:gridCol>
              </a:tblGrid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t-1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 err="1"/>
                        <a:t>U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=10)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=20)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5481" y="3150589"/>
            <a:ext cx="2139516" cy="16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40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68932"/>
              </p:ext>
            </p:extLst>
          </p:nvPr>
        </p:nvGraphicFramePr>
        <p:xfrm>
          <a:off x="4494997" y="1807442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X=5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X=20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026" name="Picture 2" descr="How to Draw R2-D2 from Star War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44" y="2020924"/>
            <a:ext cx="595196" cy="6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1696"/>
              </p:ext>
            </p:extLst>
          </p:nvPr>
        </p:nvGraphicFramePr>
        <p:xfrm>
          <a:off x="7064194" y="540517"/>
          <a:ext cx="100409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8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27209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5581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421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27275"/>
              </p:ext>
            </p:extLst>
          </p:nvPr>
        </p:nvGraphicFramePr>
        <p:xfrm>
          <a:off x="5866687" y="540517"/>
          <a:ext cx="1129347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19261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2672" y="3149623"/>
            <a:ext cx="2983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 Step:</a:t>
            </a:r>
          </a:p>
          <a:p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085185"/>
              </p:ext>
            </p:extLst>
          </p:nvPr>
        </p:nvGraphicFramePr>
        <p:xfrm>
          <a:off x="5092859" y="2726451"/>
          <a:ext cx="3942669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1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390716">
                  <a:extLst>
                    <a:ext uri="{9D8B030D-6E8A-4147-A177-3AD203B41FA5}">
                      <a16:colId xmlns:a16="http://schemas.microsoft.com/office/drawing/2014/main" val="1073746007"/>
                    </a:ext>
                  </a:extLst>
                </a:gridCol>
                <a:gridCol w="727252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  <a:gridCol w="821307">
                  <a:extLst>
                    <a:ext uri="{9D8B030D-6E8A-4147-A177-3AD203B41FA5}">
                      <a16:colId xmlns:a16="http://schemas.microsoft.com/office/drawing/2014/main" val="3678583593"/>
                    </a:ext>
                  </a:extLst>
                </a:gridCol>
              </a:tblGrid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t-1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 err="1"/>
                        <a:t>U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=10)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=20)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*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360" y="3174724"/>
            <a:ext cx="2245637" cy="171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82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68932"/>
              </p:ext>
            </p:extLst>
          </p:nvPr>
        </p:nvGraphicFramePr>
        <p:xfrm>
          <a:off x="4494997" y="1807442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X=5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X=15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X=20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026" name="Picture 2" descr="How to Draw R2-D2 from Star War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44" y="2020924"/>
            <a:ext cx="595196" cy="6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1696"/>
              </p:ext>
            </p:extLst>
          </p:nvPr>
        </p:nvGraphicFramePr>
        <p:xfrm>
          <a:off x="7064194" y="540517"/>
          <a:ext cx="100409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8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527209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</a:tblGrid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0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P(X</a:t>
                      </a:r>
                      <a:r>
                        <a:rPr lang="en-US" sz="1050" baseline="-25000" dirty="0"/>
                        <a:t>0</a:t>
                      </a:r>
                      <a:r>
                        <a:rPr lang="en-US" sz="1050" dirty="0"/>
                        <a:t>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55817"/>
                  </a:ext>
                </a:extLst>
              </a:tr>
              <a:tr h="20098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0.25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4216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27275"/>
              </p:ext>
            </p:extLst>
          </p:nvPr>
        </p:nvGraphicFramePr>
        <p:xfrm>
          <a:off x="5866687" y="540517"/>
          <a:ext cx="1129347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19261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Z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825062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6463776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1332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2672" y="3149623"/>
            <a:ext cx="2983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Step:</a:t>
            </a:r>
          </a:p>
          <a:p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14952"/>
              </p:ext>
            </p:extLst>
          </p:nvPr>
        </p:nvGraphicFramePr>
        <p:xfrm>
          <a:off x="5092859" y="2726451"/>
          <a:ext cx="394266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16">
                  <a:extLst>
                    <a:ext uri="{9D8B030D-6E8A-4147-A177-3AD203B41FA5}">
                      <a16:colId xmlns:a16="http://schemas.microsoft.com/office/drawing/2014/main" val="755668865"/>
                    </a:ext>
                  </a:extLst>
                </a:gridCol>
                <a:gridCol w="390716">
                  <a:extLst>
                    <a:ext uri="{9D8B030D-6E8A-4147-A177-3AD203B41FA5}">
                      <a16:colId xmlns:a16="http://schemas.microsoft.com/office/drawing/2014/main" val="1073746007"/>
                    </a:ext>
                  </a:extLst>
                </a:gridCol>
                <a:gridCol w="727252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806339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  <a:gridCol w="821307">
                  <a:extLst>
                    <a:ext uri="{9D8B030D-6E8A-4147-A177-3AD203B41FA5}">
                      <a16:colId xmlns:a16="http://schemas.microsoft.com/office/drawing/2014/main" val="3678583593"/>
                    </a:ext>
                  </a:extLst>
                </a:gridCol>
              </a:tblGrid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</a:t>
                      </a:r>
                      <a:r>
                        <a:rPr lang="en-US" sz="1050" baseline="-25000" dirty="0"/>
                        <a:t>t-1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 err="1"/>
                        <a:t>U</a:t>
                      </a:r>
                      <a:r>
                        <a:rPr lang="en-US" sz="1050" baseline="-25000" dirty="0" err="1"/>
                        <a:t>t</a:t>
                      </a:r>
                      <a:endParaRPr lang="en-IN" sz="105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=10)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=15)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P(</a:t>
                      </a:r>
                      <a:r>
                        <a:rPr lang="en-US" sz="1050" dirty="0" err="1"/>
                        <a:t>X</a:t>
                      </a:r>
                      <a:r>
                        <a:rPr lang="en-US" sz="1050" baseline="-25000" dirty="0" err="1"/>
                        <a:t>t</a:t>
                      </a:r>
                      <a:r>
                        <a:rPr lang="en-US" sz="1050" baseline="-25000" dirty="0"/>
                        <a:t> </a:t>
                      </a:r>
                      <a:r>
                        <a:rPr lang="en-US" sz="1050" dirty="0"/>
                        <a:t>=20)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*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7901461"/>
                  </a:ext>
                </a:extLst>
              </a:tr>
              <a:tr h="240672">
                <a:tc>
                  <a:txBody>
                    <a:bodyPr/>
                    <a:lstStyle/>
                    <a:p>
                      <a:pPr algn="ctr"/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6166390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359" y="3174724"/>
            <a:ext cx="2245637" cy="17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64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6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65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35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</a:t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>
                <a:solidFill>
                  <a:srgbClr val="00B0F0"/>
                </a:solidFill>
              </a:rPr>
              <a:t>				</a:t>
            </a:r>
            <a:r>
              <a:rPr lang="en" sz="2200" dirty="0">
                <a:solidFill>
                  <a:srgbClr val="0070C0"/>
                </a:solidFill>
              </a:rPr>
              <a:t>Histogram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41328"/>
          <a:stretch/>
        </p:blipFill>
        <p:spPr>
          <a:xfrm>
            <a:off x="311700" y="1018223"/>
            <a:ext cx="4276725" cy="332517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57552"/>
          <a:stretch/>
        </p:blipFill>
        <p:spPr>
          <a:xfrm>
            <a:off x="4769266" y="1937704"/>
            <a:ext cx="4276725" cy="240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50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</a:t>
            </a:r>
            <a:r>
              <a:rPr lang="en" sz="2000" dirty="0">
                <a:solidFill>
                  <a:srgbClr val="0070C0"/>
                </a:solidFill>
              </a:rPr>
              <a:t>Piecewise Constant Approximation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795" y="1106071"/>
            <a:ext cx="3725205" cy="34154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2672" y="3149623"/>
            <a:ext cx="2983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Vs Resource Intensive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9419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368" y="2094999"/>
            <a:ext cx="4812632" cy="281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2672" y="3149623"/>
            <a:ext cx="2983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Fine Grained Representation with fixed Grid Structures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8780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304" y="1241549"/>
            <a:ext cx="3332428" cy="2223987"/>
          </a:xfrm>
          <a:prstGeom prst="rect">
            <a:avLst/>
          </a:prstGeom>
        </p:spPr>
      </p:pic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2672" y="3149623"/>
            <a:ext cx="2983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Fine Grained Representation with fixed Grid Structures</a:t>
            </a: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509" y="1106454"/>
            <a:ext cx="3311141" cy="24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61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AIML in Grid Localization :</a:t>
            </a:r>
            <a:endParaRPr sz="2400" dirty="0">
              <a:solidFill>
                <a:srgbClr val="C00000"/>
              </a:solidFill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11700" y="1143000"/>
            <a:ext cx="6724100" cy="3230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b="1" dirty="0"/>
              <a:t>Use Cases: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dirty="0"/>
              <a:t>Multiple Sensor Input are available . Measurement Models are noisy. 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dirty="0"/>
              <a:t>Image Captured from camera as streams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dirty="0"/>
              <a:t>Recommend Actions for localization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50000"/>
              </a:lnSpc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142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368" y="2094999"/>
            <a:ext cx="4812632" cy="281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2672" y="3149623"/>
            <a:ext cx="29838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Fine Grained Representation with fixed Grid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Pre-caching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Sensor Sub Sampling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Delayed Motion Updates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Selective Updating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Heuristics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2797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914" y="902058"/>
            <a:ext cx="4009183" cy="1890618"/>
          </a:xfrm>
          <a:prstGeom prst="rect">
            <a:avLst/>
          </a:prstGeom>
        </p:spPr>
      </p:pic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88130"/>
            <a:ext cx="5276300" cy="759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72" y="1106071"/>
            <a:ext cx="5311406" cy="1782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1372" y="2723649"/>
            <a:ext cx="5038725" cy="2190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672" y="3149623"/>
            <a:ext cx="29838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Coarse Grained Representation with Dynamic Grid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Topological Representation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Inflate Motion Noise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Inflate Measurement Noise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693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3395"/>
          <a:stretch/>
        </p:blipFill>
        <p:spPr>
          <a:xfrm>
            <a:off x="7259453" y="3030574"/>
            <a:ext cx="2019300" cy="188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0" y="1003323"/>
            <a:ext cx="31827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Coarse Grained Representation with Dynamic Grid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Topological Representation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Inflate Motion Noise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Inflate Measurement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1m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Robot moves right to 0.2m from x=0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Landmark at 3m</a:t>
            </a:r>
            <a:endParaRPr lang="en-IN" dirty="0">
              <a:solidFill>
                <a:srgbClr val="0070C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26534"/>
              </p:ext>
            </p:extLst>
          </p:nvPr>
        </p:nvGraphicFramePr>
        <p:xfrm>
          <a:off x="2591200" y="3979341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G=0 (0,0)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G=3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2" name="Picture 2" descr="How to Draw R2-D2 from Star War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900" y="4267322"/>
            <a:ext cx="351356" cy="3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41771"/>
              </p:ext>
            </p:extLst>
          </p:nvPr>
        </p:nvGraphicFramePr>
        <p:xfrm>
          <a:off x="0" y="1003323"/>
          <a:ext cx="42925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Bel(0)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Bel(1)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25526"/>
              </p:ext>
            </p:extLst>
          </p:nvPr>
        </p:nvGraphicFramePr>
        <p:xfrm>
          <a:off x="0" y="1374163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548104"/>
              </p:ext>
            </p:extLst>
          </p:nvPr>
        </p:nvGraphicFramePr>
        <p:xfrm>
          <a:off x="0" y="1761983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380979"/>
              </p:ext>
            </p:extLst>
          </p:nvPr>
        </p:nvGraphicFramePr>
        <p:xfrm>
          <a:off x="-2031" y="215410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770460"/>
              </p:ext>
            </p:extLst>
          </p:nvPr>
        </p:nvGraphicFramePr>
        <p:xfrm>
          <a:off x="-2031" y="254192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392450"/>
              </p:ext>
            </p:extLst>
          </p:nvPr>
        </p:nvGraphicFramePr>
        <p:xfrm>
          <a:off x="-2031" y="291732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7862"/>
              </p:ext>
            </p:extLst>
          </p:nvPr>
        </p:nvGraphicFramePr>
        <p:xfrm>
          <a:off x="-2031" y="3305059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81" y="4248934"/>
            <a:ext cx="551619" cy="5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23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3395"/>
          <a:stretch/>
        </p:blipFill>
        <p:spPr>
          <a:xfrm>
            <a:off x="7259453" y="3030574"/>
            <a:ext cx="2019300" cy="188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0" y="1003323"/>
            <a:ext cx="31827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Coarse Grained Representation with Dynamic Grid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Topological Representation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Inflate Motion Noise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Inflate Measurement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1m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Robot moves right to 0.2m from x=0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Landmark at 3m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26534"/>
              </p:ext>
            </p:extLst>
          </p:nvPr>
        </p:nvGraphicFramePr>
        <p:xfrm>
          <a:off x="2591200" y="3979341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G=0 (0,0)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G=3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2" name="Picture 2" descr="How to Draw R2-D2 from Star War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900" y="4267322"/>
            <a:ext cx="351356" cy="3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41771"/>
              </p:ext>
            </p:extLst>
          </p:nvPr>
        </p:nvGraphicFramePr>
        <p:xfrm>
          <a:off x="0" y="1003323"/>
          <a:ext cx="42925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Bel(0)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Bel(1)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25526"/>
              </p:ext>
            </p:extLst>
          </p:nvPr>
        </p:nvGraphicFramePr>
        <p:xfrm>
          <a:off x="0" y="1374163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1622"/>
              </p:ext>
            </p:extLst>
          </p:nvPr>
        </p:nvGraphicFramePr>
        <p:xfrm>
          <a:off x="0" y="1761983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987717"/>
              </p:ext>
            </p:extLst>
          </p:nvPr>
        </p:nvGraphicFramePr>
        <p:xfrm>
          <a:off x="-2031" y="215410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672454"/>
              </p:ext>
            </p:extLst>
          </p:nvPr>
        </p:nvGraphicFramePr>
        <p:xfrm>
          <a:off x="-2031" y="254192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633935"/>
              </p:ext>
            </p:extLst>
          </p:nvPr>
        </p:nvGraphicFramePr>
        <p:xfrm>
          <a:off x="-2031" y="2917326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0.41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0.59</a:t>
                      </a:r>
                      <a:endParaRPr lang="en-I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147820"/>
              </p:ext>
            </p:extLst>
          </p:nvPr>
        </p:nvGraphicFramePr>
        <p:xfrm>
          <a:off x="-2031" y="3305059"/>
          <a:ext cx="42925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64204235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700633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3650129"/>
            <a:ext cx="73645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Noise to Motion by adding small probability proportional to movement / </a:t>
            </a:r>
            <a:r>
              <a:rPr lang="en-US" dirty="0" err="1">
                <a:solidFill>
                  <a:srgbClr val="0070C0"/>
                </a:solidFill>
              </a:rPr>
              <a:t>cellSize</a:t>
            </a:r>
            <a:r>
              <a:rPr lang="en-US" dirty="0">
                <a:solidFill>
                  <a:srgbClr val="0070C0"/>
                </a:solidFill>
              </a:rPr>
              <a:t> = 20%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81" y="4248934"/>
            <a:ext cx="551619" cy="5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31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</a:t>
            </a:r>
            <a:r>
              <a:rPr lang="en" sz="2000" dirty="0">
                <a:solidFill>
                  <a:srgbClr val="0070C0"/>
                </a:solidFill>
              </a:rPr>
              <a:t>Optimization Techniques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3395"/>
          <a:stretch/>
        </p:blipFill>
        <p:spPr>
          <a:xfrm>
            <a:off x="7259453" y="3030574"/>
            <a:ext cx="2019300" cy="188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0" y="1003323"/>
            <a:ext cx="31827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Coarse Grained Representation with Dynamic Grid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Topological Representation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Inflate Motion Noise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Inflate Measurement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1m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At t=2, Robot is at 0.4m and senses landmark at 2.6m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Keep sensor noise = 0.1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Landmark at 3m= Mean</a:t>
            </a:r>
            <a:endParaRPr lang="en-IN" dirty="0">
              <a:solidFill>
                <a:srgbClr val="0070C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91200" y="3979341"/>
          <a:ext cx="4533500" cy="84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75">
                  <a:extLst>
                    <a:ext uri="{9D8B030D-6E8A-4147-A177-3AD203B41FA5}">
                      <a16:colId xmlns:a16="http://schemas.microsoft.com/office/drawing/2014/main" val="580372535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57017789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7789726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96607916"/>
                    </a:ext>
                  </a:extLst>
                </a:gridCol>
              </a:tblGrid>
              <a:tr h="846288">
                <a:tc>
                  <a:txBody>
                    <a:bodyPr/>
                    <a:lstStyle/>
                    <a:p>
                      <a:r>
                        <a:rPr lang="en-US" dirty="0"/>
                        <a:t>G=0 (0,0)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G=3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68719"/>
                  </a:ext>
                </a:extLst>
              </a:tr>
            </a:tbl>
          </a:graphicData>
        </a:graphic>
      </p:graphicFrame>
      <p:pic>
        <p:nvPicPr>
          <p:cNvPr id="12" name="Picture 2" descr="How to Draw R2-D2 from Star War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900" y="4267322"/>
            <a:ext cx="351356" cy="3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0" y="3650129"/>
            <a:ext cx="3001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Noise to Motion Model </a:t>
            </a:r>
            <a:r>
              <a:rPr lang="en-US" dirty="0" err="1">
                <a:solidFill>
                  <a:srgbClr val="0070C0"/>
                </a:solidFill>
              </a:rPr>
              <a:t>Eg</a:t>
            </a:r>
            <a:r>
              <a:rPr lang="en-US" dirty="0">
                <a:solidFill>
                  <a:srgbClr val="0070C0"/>
                </a:solidFill>
              </a:rPr>
              <a:t>., 0.5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" y="1204711"/>
            <a:ext cx="3911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P(Z | X) = 0.0003 (Apply Gaussian </a:t>
            </a:r>
            <a:r>
              <a:rPr lang="en-US" dirty="0" err="1">
                <a:solidFill>
                  <a:schemeClr val="tx1"/>
                </a:solidFill>
              </a:rPr>
              <a:t>Dist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Inference : </a:t>
            </a:r>
          </a:p>
          <a:p>
            <a:r>
              <a:rPr lang="en-US" dirty="0">
                <a:solidFill>
                  <a:schemeClr val="tx1"/>
                </a:solidFill>
              </a:rPr>
              <a:t>Most likely the robot is not in Grid 0 !!!!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1933960"/>
            <a:ext cx="3911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P(Z | X) = 0.73 (Apply Gaussian </a:t>
            </a:r>
            <a:r>
              <a:rPr lang="en-US" dirty="0" err="1">
                <a:solidFill>
                  <a:schemeClr val="tx1"/>
                </a:solidFill>
              </a:rPr>
              <a:t>Dist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Inference : </a:t>
            </a:r>
          </a:p>
          <a:p>
            <a:r>
              <a:rPr lang="en-US" dirty="0">
                <a:solidFill>
                  <a:schemeClr val="tx1"/>
                </a:solidFill>
              </a:rPr>
              <a:t>Most likely the robot is </a:t>
            </a:r>
            <a:r>
              <a:rPr lang="en-US" strike="sngStrike" dirty="0">
                <a:solidFill>
                  <a:schemeClr val="tx1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in Grid 0 !!!!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76328"/>
              </p:ext>
            </p:extLst>
          </p:nvPr>
        </p:nvGraphicFramePr>
        <p:xfrm>
          <a:off x="3334225" y="2085041"/>
          <a:ext cx="28617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P(Z|X)0.1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P(Z|X)</a:t>
                      </a:r>
                    </a:p>
                    <a:p>
                      <a:r>
                        <a:rPr lang="en-US" dirty="0"/>
                        <a:t>0.5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683935"/>
              </p:ext>
            </p:extLst>
          </p:nvPr>
        </p:nvGraphicFramePr>
        <p:xfrm>
          <a:off x="3336256" y="2609659"/>
          <a:ext cx="286173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266826"/>
              </p:ext>
            </p:extLst>
          </p:nvPr>
        </p:nvGraphicFramePr>
        <p:xfrm>
          <a:off x="3336256" y="2997479"/>
          <a:ext cx="286173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12038"/>
              </p:ext>
            </p:extLst>
          </p:nvPr>
        </p:nvGraphicFramePr>
        <p:xfrm>
          <a:off x="3334225" y="3389602"/>
          <a:ext cx="286173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433">
                  <a:extLst>
                    <a:ext uri="{9D8B030D-6E8A-4147-A177-3AD203B41FA5}">
                      <a16:colId xmlns:a16="http://schemas.microsoft.com/office/drawing/2014/main" val="51287102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4243236571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2325002537"/>
                    </a:ext>
                  </a:extLst>
                </a:gridCol>
                <a:gridCol w="715433">
                  <a:extLst>
                    <a:ext uri="{9D8B030D-6E8A-4147-A177-3AD203B41FA5}">
                      <a16:colId xmlns:a16="http://schemas.microsoft.com/office/drawing/2014/main" val="1318849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87157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81" y="4248934"/>
            <a:ext cx="551619" cy="5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35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		</a:t>
            </a:r>
            <a:r>
              <a:rPr lang="en" sz="2000" dirty="0">
                <a:solidFill>
                  <a:srgbClr val="0070C0"/>
                </a:solidFill>
              </a:rPr>
              <a:t>Illustration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8326" y="1034241"/>
            <a:ext cx="23246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Set up 1: </a:t>
            </a:r>
          </a:p>
          <a:p>
            <a:r>
              <a:rPr lang="en-US" dirty="0"/>
              <a:t>15 centimeter and an angular resolution of 5 degrees</a:t>
            </a:r>
          </a:p>
          <a:p>
            <a:r>
              <a:rPr lang="en-US" dirty="0"/>
              <a:t>Two Laser Finders</a:t>
            </a:r>
          </a:p>
          <a:p>
            <a:r>
              <a:rPr lang="en-US" dirty="0"/>
              <a:t>Bean Sensor Model</a:t>
            </a:r>
          </a:p>
          <a:p>
            <a:r>
              <a:rPr lang="en-US" dirty="0"/>
              <a:t>Subsampling 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465" y="993095"/>
            <a:ext cx="4623535" cy="21136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84" y="3106711"/>
            <a:ext cx="4549116" cy="20096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106711"/>
            <a:ext cx="4480119" cy="20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7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		</a:t>
            </a:r>
            <a:r>
              <a:rPr lang="en" sz="2000" dirty="0">
                <a:solidFill>
                  <a:srgbClr val="0070C0"/>
                </a:solidFill>
              </a:rPr>
              <a:t>Illustration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0628"/>
            <a:ext cx="3134787" cy="22615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788" y="1020628"/>
            <a:ext cx="2394158" cy="17129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787" y="2886061"/>
            <a:ext cx="4828925" cy="17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92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10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0"/>
            <a:ext cx="7475138" cy="105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C00000"/>
                </a:solidFill>
              </a:rPr>
              <a:t>Grid Based Localization : </a:t>
            </a:r>
            <a:br>
              <a:rPr lang="en" sz="2400" dirty="0">
                <a:solidFill>
                  <a:srgbClr val="C00000"/>
                </a:solidFill>
              </a:rPr>
            </a:br>
            <a:r>
              <a:rPr lang="en" sz="2400" dirty="0">
                <a:solidFill>
                  <a:srgbClr val="C00000"/>
                </a:solidFill>
              </a:rPr>
              <a:t>						</a:t>
            </a:r>
            <a:r>
              <a:rPr lang="en" sz="2000" dirty="0">
                <a:solidFill>
                  <a:srgbClr val="0070C0"/>
                </a:solidFill>
              </a:rPr>
              <a:t>Illustration</a:t>
            </a: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0628"/>
            <a:ext cx="3134787" cy="22615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788" y="1020628"/>
            <a:ext cx="2394158" cy="17129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787" y="3185060"/>
            <a:ext cx="4828925" cy="17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90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in Grid-Based Localization, Specifically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10896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very concrete places it pays off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0896" y="914400"/>
            <a:ext cx="8522208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54864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Fusing many noisy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camera + IMU + WiFi together: train a net mapping (cell, raw packet) → likelihood, plug into the histogram update.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1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→ multi-sensor mobile robot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" y="1755648"/>
            <a:ext cx="8522208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" y="1755648"/>
            <a:ext cx="54864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streams as measurements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75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 is too high-dim for an analytical likelihood. A CNN outputs a heatmap over cells — that heatmap IS p(zₜ|xₜ).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1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→ visual localization, no LIDAR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0896" y="2596896"/>
            <a:ext cx="8522208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" y="2596896"/>
            <a:ext cx="54864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6700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recommendation (active)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9169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maximises info gain? Classical entropy calc is slow; RL learns a policy π(u | bel) directly.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31912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1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→ kidnapped-robot recovery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" y="3438144"/>
            <a:ext cx="8522208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0896" y="3438144"/>
            <a:ext cx="54864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02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35112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the motion noise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581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hand-picking 20% / 50% inflation, train a model to predict per-cell noise from odometry vs ground truth.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403250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1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→ AMR on slippery surfaces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86026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>
            <a:spLocks noGrp="1"/>
          </p:cNvSpPr>
          <p:nvPr>
            <p:ph type="title"/>
          </p:nvPr>
        </p:nvSpPr>
        <p:spPr>
          <a:xfrm>
            <a:off x="226208" y="584402"/>
            <a:ext cx="8520600" cy="28293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Required Reading</a:t>
            </a:r>
            <a:endParaRPr sz="2000" b="1" dirty="0"/>
          </a:p>
          <a:p>
            <a:pPr marL="36576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T1 Chapter #4, #7, #8</a:t>
            </a:r>
            <a:br>
              <a:rPr lang="en-US" sz="2000" dirty="0"/>
            </a:br>
            <a:r>
              <a:rPr lang="en-US" sz="2000" dirty="0"/>
              <a:t>T2 Chapter #6.1, #6.2</a:t>
            </a:r>
            <a:br>
              <a:rPr lang="en-US" sz="2000" dirty="0"/>
            </a:br>
            <a:br>
              <a:rPr lang="en-US" sz="2000" dirty="0"/>
            </a:br>
            <a:endParaRPr sz="2000" dirty="0"/>
          </a:p>
        </p:txBody>
      </p:sp>
      <p:sp>
        <p:nvSpPr>
          <p:cNvPr id="365" name="Google Shape;36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sp>
        <p:nvSpPr>
          <p:cNvPr id="4" name="Google Shape;364;p57"/>
          <p:cNvSpPr txBox="1">
            <a:spLocks/>
          </p:cNvSpPr>
          <p:nvPr/>
        </p:nvSpPr>
        <p:spPr>
          <a:xfrm>
            <a:off x="226208" y="2623811"/>
            <a:ext cx="8520600" cy="149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lnSpc>
                <a:spcPct val="200000"/>
              </a:lnSpc>
            </a:pPr>
            <a:r>
              <a:rPr lang="en-US" sz="2000" b="1" dirty="0"/>
              <a:t>Next Class Plan</a:t>
            </a:r>
          </a:p>
          <a:p>
            <a:pPr marL="365760" indent="-342900" algn="r">
              <a:lnSpc>
                <a:spcPct val="20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2000" dirty="0"/>
              <a:t>Monte Carlo Based Localization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15991</TotalTime>
  <Words>3603</Words>
  <Application>Microsoft Office PowerPoint</Application>
  <PresentationFormat>On-screen Show (16:9)</PresentationFormat>
  <Paragraphs>1003</Paragraphs>
  <Slides>55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Cambria Math</vt:lpstr>
      <vt:lpstr>Consolas</vt:lpstr>
      <vt:lpstr>Wingdings</vt:lpstr>
      <vt:lpstr>Simple Light</vt:lpstr>
      <vt:lpstr>AIML for Robotics</vt:lpstr>
      <vt:lpstr>The course owner and the authors of this course deck, Prof. Raja vadhana and Dr.Sangeetha, are gratefully acknowledging all authors who made their course materials freely available online.</vt:lpstr>
      <vt:lpstr>Course Content</vt:lpstr>
      <vt:lpstr>PowerPoint Presentation</vt:lpstr>
      <vt:lpstr>PowerPoint Presentation</vt:lpstr>
      <vt:lpstr>Map Frame</vt:lpstr>
      <vt:lpstr>Frame</vt:lpstr>
      <vt:lpstr>PowerPoint Presentation</vt:lpstr>
      <vt:lpstr>PowerPoint Presentation</vt:lpstr>
      <vt:lpstr>Frame</vt:lpstr>
      <vt:lpstr>Frame</vt:lpstr>
      <vt:lpstr>Frame</vt:lpstr>
      <vt:lpstr>Frame</vt:lpstr>
      <vt:lpstr>Frame</vt:lpstr>
      <vt:lpstr>Frame</vt:lpstr>
      <vt:lpstr>Frame</vt:lpstr>
      <vt:lpstr>PowerPoint Presentation</vt:lpstr>
      <vt:lpstr>Robot Localization</vt:lpstr>
      <vt:lpstr>PowerPoint Presentation</vt:lpstr>
      <vt:lpstr>PowerPoint Presentation</vt:lpstr>
      <vt:lpstr>PowerPoint Presentation</vt:lpstr>
      <vt:lpstr>PowerPoint Presentation</vt:lpstr>
      <vt:lpstr>Taxonomy of Localization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Discrete Bayes Filters</vt:lpstr>
      <vt:lpstr>Recursive State Estimation Bayes Filter Algorithm</vt:lpstr>
      <vt:lpstr>Grid Based Localization      Histogram Filter Approach</vt:lpstr>
      <vt:lpstr>PowerPoint Presentation</vt:lpstr>
      <vt:lpstr>Grid Based Localization      Histogram Filter Approach</vt:lpstr>
      <vt:lpstr>Grid Based Localization      Histogram Filter Approach</vt:lpstr>
      <vt:lpstr>Grid Based Localization      Histogram Filter Approach</vt:lpstr>
      <vt:lpstr>Grid Based Localization      Histogram Filter Approach</vt:lpstr>
      <vt:lpstr>Grid Based Localization      Histogram Filter Approach</vt:lpstr>
      <vt:lpstr>PowerPoint Presentation</vt:lpstr>
      <vt:lpstr>PowerPoint Presentation</vt:lpstr>
      <vt:lpstr>Grid Based Localization      Histogram Filter Approach</vt:lpstr>
      <vt:lpstr>Grid Based Localization :     Piecewise Constant Approximation</vt:lpstr>
      <vt:lpstr>Grid Based Localization :      Optimization Techniques</vt:lpstr>
      <vt:lpstr>Grid Based Localization :      Optimization Techniques</vt:lpstr>
      <vt:lpstr>AIML in Grid Localization :</vt:lpstr>
      <vt:lpstr>Grid Based Localization :      Optimization Techniques</vt:lpstr>
      <vt:lpstr>Grid Based Localization :      Optimization Techniques</vt:lpstr>
      <vt:lpstr>Grid Based Localization :      Optimization Techniques</vt:lpstr>
      <vt:lpstr>Grid Based Localization :      Optimization Techniques</vt:lpstr>
      <vt:lpstr>Grid Based Localization :      Optimization Techniques</vt:lpstr>
      <vt:lpstr>Grid Based Localization :        Illustration</vt:lpstr>
      <vt:lpstr>Grid Based Localization :        Illustration</vt:lpstr>
      <vt:lpstr>Grid Based Localization :        Illustration</vt:lpstr>
      <vt:lpstr>PowerPoint Presentation</vt:lpstr>
      <vt:lpstr>Required Reading T1 Chapter #4, #7, #8 T2 Chapter #6.1, #6.2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Neural Network</dc:title>
  <dc:creator>BITS</dc:creator>
  <cp:lastModifiedBy>Sangeetha Viswanathan .</cp:lastModifiedBy>
  <cp:revision>188</cp:revision>
  <dcterms:modified xsi:type="dcterms:W3CDTF">2026-06-12T06:52:46Z</dcterms:modified>
</cp:coreProperties>
</file>